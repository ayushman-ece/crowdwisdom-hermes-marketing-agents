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frame this deck as the proposed architecture and project plan for Hermes Marketing Agents, prepared ahead of full implementation. Emphasize this is a living document that will be updated to match the codebase as it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ad research and creative production today are largely manual, slow, and inconsistent across teams — this motivates an automated, repeatable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objectives in order: discovering ads, extracting insight, generating scripts, producing video, exposing everything through Telegram, and persisting every run for auditability.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functional requirements (what the system must do) from non-functional requirements (how it must be built) — containerization, validation, modularity, logging, and version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each technology briefly: Python as the implementation language, Hermes as the agent orchestration framework, OpenRouter for LLM access, Apify for scraping, Telegram as the interface, OpenMontage for video, Docker for deployment, SQLite for storage, Pydantic for validation, and GitHub for source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four-layer architecture: ingestion (Apify), orchestration (Hermes agents), intelligence (OpenRouter LLMs), and delivery (Telegram). Note that persistence and validation run underneath all four layers, and the whole system is packaged with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each of the six planned Hermes agents and their single responsibility — discovery, insight extraction, scripting, video generation, Telegram interaction, and orchestration.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six-step workflow left to right: a Telegram request kicks off discovery, insight extraction, script generation, video rendering, and finally delivery back to the user, all supervised by the Orchestrator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OpenRouter is used for model access — one API across providers — and how different agents map to different model usage patterns depending on the task (analysis, generation, or lightweight routing).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the Apify integration flow: configuring an actor targeted at the Meta Ad Library, running and polling it, normalizing results into validated records, and ranking them for downstream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Telegram bot's responsibilities as the primary human interface, plus design notes on async handling of long-running jobs and secure credential management via environment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video generation flow from finalized script through OpenMontage rendering to delivery, and call out asynchronous polling and retry handling as key considerations.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transparent that no live demo exists yet since this reflects the proposed design. Describe what a future demo walkthrough will show once the system is implemented and ready for a submission-quality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proposed folder structure as a starting point for implementation — agents, models, integrations, storage, config, docs, and tests — noting it will evolve as code is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data flows through validated Pydantic contracts between agents, and walk through the example ScriptDraft JSON shape as an illustration of a structured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the four anticipated risk areas honestly: scraping reliability, LLM cost and latency, video render time, and keeping agent state consistent across a multi-stage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future scope beyond the initial release — additional ad networks, automated A/B testing, a web dashboard, feedback loops, database migration, and multi-language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reinforcing the core value proposition: a modular, agent-based pipeline from raw ad data to ready-to-publish creative, and commit to keeping documentation synchronized with every implementation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B4D"/>
          </a:solidFill>
          <a:ln/>
        </p:spPr>
      </p:sp>
      <p:sp>
        <p:nvSpPr>
          <p:cNvPr id="3" name="Shape 1"/>
          <p:cNvSpPr/>
          <p:nvPr/>
        </p:nvSpPr>
        <p:spPr>
          <a:xfrm>
            <a:off x="9692640" y="-1463040"/>
            <a:ext cx="4114800" cy="4114800"/>
          </a:xfrm>
          <a:prstGeom prst="ellipse">
            <a:avLst/>
          </a:prstGeom>
          <a:solidFill>
            <a:srgbClr val="1E2761"/>
          </a:solidFill>
          <a:ln/>
        </p:spPr>
      </p:sp>
      <p:sp>
        <p:nvSpPr>
          <p:cNvPr id="4" name="Shape 2"/>
          <p:cNvSpPr/>
          <p:nvPr/>
        </p:nvSpPr>
        <p:spPr>
          <a:xfrm>
            <a:off x="10607040" y="4206240"/>
            <a:ext cx="2743200" cy="2743200"/>
          </a:xfrm>
          <a:prstGeom prst="ellipse">
            <a:avLst/>
          </a:prstGeom>
          <a:solidFill>
            <a:srgbClr val="1E2761"/>
          </a:solidFill>
          <a:ln/>
        </p:spPr>
      </p:sp>
      <p:sp>
        <p:nvSpPr>
          <p:cNvPr id="5" name="Shape 3"/>
          <p:cNvSpPr/>
          <p:nvPr/>
        </p:nvSpPr>
        <p:spPr>
          <a:xfrm>
            <a:off x="-1097280" y="4937760"/>
            <a:ext cx="2926080" cy="2926080"/>
          </a:xfrm>
          <a:prstGeom prst="ellipse">
            <a:avLst/>
          </a:prstGeom>
          <a:solidFill>
            <a:srgbClr val="1E2761"/>
          </a:solidFill>
          <a:ln/>
        </p:spPr>
      </p:sp>
      <p:sp>
        <p:nvSpPr>
          <p:cNvPr id="6" name="Text 4"/>
          <p:cNvSpPr/>
          <p:nvPr/>
        </p:nvSpPr>
        <p:spPr>
          <a:xfrm>
            <a:off x="822960" y="1417320"/>
            <a:ext cx="8229600" cy="365760"/>
          </a:xfrm>
          <a:prstGeom prst="rect">
            <a:avLst/>
          </a:prstGeom>
          <a:noFill/>
          <a:ln/>
        </p:spPr>
        <p:txBody>
          <a:bodyPr wrap="square" lIns="0" tIns="0" rIns="0" bIns="0" rtlCol="0" anchor="ctr"/>
          <a:lstStyle/>
          <a:p>
            <a:pPr indent="0" marL="0">
              <a:buNone/>
            </a:pPr>
            <a:r>
              <a:rPr lang="en-US" sz="1400" b="1" spc="300" kern="0" dirty="0">
                <a:solidFill>
                  <a:srgbClr val="F2B705"/>
                </a:solidFill>
                <a:latin typeface="Calibri" pitchFamily="34" charset="0"/>
                <a:ea typeface="Calibri" pitchFamily="34" charset="-122"/>
                <a:cs typeface="Calibri" pitchFamily="34" charset="-120"/>
              </a:rPr>
              <a:t>CROWDWISDOMTRADING</a:t>
            </a:r>
            <a:endParaRPr lang="en-US" sz="1400" dirty="0"/>
          </a:p>
        </p:txBody>
      </p:sp>
      <p:sp>
        <p:nvSpPr>
          <p:cNvPr id="7" name="Text 5"/>
          <p:cNvSpPr/>
          <p:nvPr/>
        </p:nvSpPr>
        <p:spPr>
          <a:xfrm>
            <a:off x="777240" y="1783080"/>
            <a:ext cx="9875520"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Hermes Marketing Agents</a:t>
            </a:r>
            <a:endParaRPr lang="en-US" sz="4400" dirty="0"/>
          </a:p>
        </p:txBody>
      </p:sp>
      <p:sp>
        <p:nvSpPr>
          <p:cNvPr id="8" name="Text 6"/>
          <p:cNvSpPr/>
          <p:nvPr/>
        </p:nvSpPr>
        <p:spPr>
          <a:xfrm>
            <a:off x="822960" y="2971800"/>
            <a:ext cx="8046720" cy="822960"/>
          </a:xfrm>
          <a:prstGeom prst="rect">
            <a:avLst/>
          </a:prstGeom>
          <a:noFill/>
          <a:ln/>
        </p:spPr>
        <p:txBody>
          <a:bodyPr wrap="square" lIns="0" tIns="0" rIns="0" bIns="0" rtlCol="0" anchor="ctr"/>
          <a:lstStyle/>
          <a:p>
            <a:pPr indent="0" marL="0">
              <a:lnSpc>
                <a:spcPct val="120000"/>
              </a:lnSpc>
              <a:buNone/>
            </a:pPr>
            <a:r>
              <a:rPr lang="en-US" sz="1500" dirty="0">
                <a:solidFill>
                  <a:srgbClr val="CADCFC"/>
                </a:solidFill>
                <a:latin typeface="Calibri" pitchFamily="34" charset="0"/>
                <a:ea typeface="Calibri" pitchFamily="34" charset="-122"/>
                <a:cs typeface="Calibri" pitchFamily="34" charset="-120"/>
              </a:rPr>
              <a:t>A Multi-Agent AI Backend for Automated Meta Ad Discovery, Insight Extraction, Script Generation, and AI Video Advertising</a:t>
            </a:r>
            <a:endParaRPr lang="en-US" sz="1500" dirty="0"/>
          </a:p>
        </p:txBody>
      </p:sp>
      <p:sp>
        <p:nvSpPr>
          <p:cNvPr id="9" name="Shape 7"/>
          <p:cNvSpPr/>
          <p:nvPr/>
        </p:nvSpPr>
        <p:spPr>
          <a:xfrm>
            <a:off x="822960" y="3977640"/>
            <a:ext cx="2011680" cy="0"/>
          </a:xfrm>
          <a:prstGeom prst="line">
            <a:avLst/>
          </a:prstGeom>
          <a:noFill/>
          <a:ln w="25400">
            <a:solidFill>
              <a:srgbClr val="F2B705"/>
            </a:solidFill>
            <a:prstDash val="solid"/>
          </a:ln>
        </p:spPr>
      </p:sp>
      <p:sp>
        <p:nvSpPr>
          <p:cNvPr id="10" name="Text 8"/>
          <p:cNvSpPr/>
          <p:nvPr/>
        </p:nvSpPr>
        <p:spPr>
          <a:xfrm>
            <a:off x="822960" y="4160520"/>
            <a:ext cx="7772400" cy="365760"/>
          </a:xfrm>
          <a:prstGeom prst="rect">
            <a:avLst/>
          </a:prstGeom>
          <a:noFill/>
          <a:ln/>
        </p:spPr>
        <p:txBody>
          <a:bodyPr wrap="square" lIns="0" tIns="0" rIns="0" bIns="0" rtlCol="0" anchor="ctr"/>
          <a:lstStyle/>
          <a:p>
            <a:pPr indent="0" marL="0">
              <a:buNone/>
            </a:pPr>
            <a:r>
              <a:rPr lang="en-US" sz="1250" i="1" dirty="0">
                <a:solidFill>
                  <a:srgbClr val="CADCFC"/>
                </a:solidFill>
                <a:latin typeface="Calibri" pitchFamily="34" charset="0"/>
                <a:ea typeface="Calibri" pitchFamily="34" charset="-122"/>
                <a:cs typeface="Calibri" pitchFamily="34" charset="-120"/>
              </a:rPr>
              <a:t>Proposed System Design &amp; Project Plan  —  Pre-Implementation Architecture Overview</a:t>
            </a:r>
            <a:endParaRPr lang="en-US" sz="1250" dirty="0"/>
          </a:p>
        </p:txBody>
      </p:sp>
      <p:sp>
        <p:nvSpPr>
          <p:cNvPr id="11" name="Text 9"/>
          <p:cNvSpPr/>
          <p:nvPr/>
        </p:nvSpPr>
        <p:spPr>
          <a:xfrm>
            <a:off x="822960" y="5623560"/>
            <a:ext cx="7772400" cy="914400"/>
          </a:xfrm>
          <a:prstGeom prst="rect">
            <a:avLst/>
          </a:prstGeom>
          <a:noFill/>
          <a:ln/>
        </p:spPr>
        <p:txBody>
          <a:bodyPr wrap="square" lIns="0" tIns="0" rIns="0" bIns="0" rtlCol="0" anchor="t"/>
          <a:lstStyle/>
          <a:p>
            <a:pPr indent="0" marL="0">
              <a:lnSpc>
                <a:spcPct val="135000"/>
              </a:lnSpc>
              <a:buNone/>
            </a:pPr>
            <a:r>
              <a:rPr lang="en-US" sz="1200" dirty="0">
                <a:solidFill>
                  <a:srgbClr val="5A6B8C"/>
                </a:solidFill>
                <a:latin typeface="Calibri" pitchFamily="34" charset="0"/>
                <a:ea typeface="Calibri" pitchFamily="34" charset="-122"/>
                <a:cs typeface="Calibri" pitchFamily="34" charset="-120"/>
              </a:rPr>
              <a:t>Prepared by:  </a:t>
            </a:r>
            <a:pPr indent="0" marL="0">
              <a:lnSpc>
                <a:spcPct val="135000"/>
              </a:lnSpc>
              <a:buNone/>
            </a:pPr>
            <a:r>
              <a:rPr lang="en-US" sz="1200" b="1" dirty="0">
                <a:solidFill>
                  <a:srgbClr val="FFFFFF"/>
                </a:solidFill>
                <a:latin typeface="Calibri" pitchFamily="34" charset="0"/>
                <a:ea typeface="Calibri" pitchFamily="34" charset="-122"/>
                <a:cs typeface="Calibri" pitchFamily="34" charset="-120"/>
              </a:rPr>
              <a:t>AI Technical Writer &amp; Solutions Architect
</a:t>
            </a:r>
            <a:pPr indent="0" marL="0">
              <a:lnSpc>
                <a:spcPct val="135000"/>
              </a:lnSpc>
              <a:buNone/>
            </a:pPr>
            <a:r>
              <a:rPr lang="en-US" sz="1200" dirty="0">
                <a:solidFill>
                  <a:srgbClr val="5A6B8C"/>
                </a:solidFill>
                <a:latin typeface="Calibri" pitchFamily="34" charset="0"/>
                <a:ea typeface="Calibri" pitchFamily="34" charset="-122"/>
                <a:cs typeface="Calibri" pitchFamily="34" charset="-120"/>
              </a:rPr>
              <a:t>Framework:  </a:t>
            </a:r>
            <a:pPr indent="0" marL="0">
              <a:lnSpc>
                <a:spcPct val="135000"/>
              </a:lnSpc>
              <a:buNone/>
            </a:pPr>
            <a:r>
              <a:rPr lang="en-US" sz="1200" b="1" dirty="0">
                <a:solidFill>
                  <a:srgbClr val="FFFFFF"/>
                </a:solidFill>
                <a:latin typeface="Calibri" pitchFamily="34" charset="0"/>
                <a:ea typeface="Calibri" pitchFamily="34" charset="-122"/>
                <a:cs typeface="Calibri" pitchFamily="34" charset="-120"/>
              </a:rPr>
              <a:t>Hermes Agent Framework  •  OpenRouter  •  Apify  •  OpenMontage
</a:t>
            </a:r>
            <a:pPr indent="0" marL="0">
              <a:lnSpc>
                <a:spcPct val="135000"/>
              </a:lnSpc>
              <a:buNone/>
            </a:pPr>
            <a:r>
              <a:rPr lang="en-US" sz="1200" dirty="0">
                <a:solidFill>
                  <a:srgbClr val="5A6B8C"/>
                </a:solidFill>
                <a:latin typeface="Calibri" pitchFamily="34" charset="0"/>
                <a:ea typeface="Calibri" pitchFamily="34" charset="-122"/>
                <a:cs typeface="Calibri" pitchFamily="34" charset="-120"/>
              </a:rPr>
              <a:t>Date:  </a:t>
            </a:r>
            <a:pPr indent="0" marL="0">
              <a:lnSpc>
                <a:spcPct val="135000"/>
              </a:lnSpc>
              <a:buNone/>
            </a:pPr>
            <a:r>
              <a:rPr lang="en-US" sz="1200" b="1" dirty="0">
                <a:solidFill>
                  <a:srgbClr val="FFFFFF"/>
                </a:solidFill>
                <a:latin typeface="Calibri" pitchFamily="34" charset="0"/>
                <a:ea typeface="Calibri" pitchFamily="34" charset="-122"/>
                <a:cs typeface="Calibri" pitchFamily="34" charset="-120"/>
              </a:rPr>
              <a:t>July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Problem Statement</a:t>
            </a:r>
            <a:endParaRPr lang="en-US" sz="3200" dirty="0"/>
          </a:p>
        </p:txBody>
      </p:sp>
      <p:sp>
        <p:nvSpPr>
          <p:cNvPr id="3" name="Text 1"/>
          <p:cNvSpPr/>
          <p:nvPr/>
        </p:nvSpPr>
        <p:spPr>
          <a:xfrm>
            <a:off x="548640" y="1051560"/>
            <a:ext cx="9144000" cy="365760"/>
          </a:xfrm>
          <a:prstGeom prst="rect">
            <a:avLst/>
          </a:prstGeom>
          <a:noFill/>
          <a:ln/>
        </p:spPr>
        <p:txBody>
          <a:bodyPr wrap="square" lIns="0" tIns="0" rIns="0" bIns="0" rtlCol="0" anchor="ctr"/>
          <a:lstStyle/>
          <a:p>
            <a:pPr indent="0" marL="0">
              <a:buNone/>
            </a:pPr>
            <a:r>
              <a:rPr lang="en-US" sz="1300" i="1" dirty="0">
                <a:solidFill>
                  <a:srgbClr val="5A6B8C"/>
                </a:solidFill>
                <a:latin typeface="Calibri" pitchFamily="34" charset="0"/>
                <a:ea typeface="Calibri" pitchFamily="34" charset="-122"/>
                <a:cs typeface="Calibri" pitchFamily="34" charset="-120"/>
              </a:rPr>
              <a:t>Why manual ad research and creative production doesn't scale</a:t>
            </a:r>
            <a:endParaRPr lang="en-US" sz="1300" dirty="0"/>
          </a:p>
        </p:txBody>
      </p:sp>
      <p:sp>
        <p:nvSpPr>
          <p:cNvPr id="4" name="Shape 2"/>
          <p:cNvSpPr/>
          <p:nvPr/>
        </p:nvSpPr>
        <p:spPr>
          <a:xfrm>
            <a:off x="548640" y="1828800"/>
            <a:ext cx="5349240" cy="1965960"/>
          </a:xfrm>
          <a:prstGeom prst="roundRect">
            <a:avLst>
              <a:gd name="adj" fmla="val 3721"/>
            </a:avLst>
          </a:prstGeom>
          <a:solidFill>
            <a:srgbClr val="FFFFFF"/>
          </a:solidFill>
          <a:ln/>
          <a:effectLst>
            <a:outerShdw sx="100000" sy="100000" kx="0" ky="0" algn="bl" rotWithShape="0" blurRad="76200" dist="25400" dir="5400000">
              <a:srgbClr val="1B2340">
                <a:alpha val="18000"/>
              </a:srgbClr>
            </a:outerShdw>
          </a:effectLst>
        </p:spPr>
      </p:sp>
      <p:sp>
        <p:nvSpPr>
          <p:cNvPr id="5" name="Shape 3"/>
          <p:cNvSpPr/>
          <p:nvPr/>
        </p:nvSpPr>
        <p:spPr>
          <a:xfrm>
            <a:off x="804672" y="2084832"/>
            <a:ext cx="502920" cy="502920"/>
          </a:xfrm>
          <a:prstGeom prst="ellipse">
            <a:avLst/>
          </a:prstGeom>
          <a:solidFill>
            <a:srgbClr val="1E2761"/>
          </a:solidFill>
          <a:ln/>
        </p:spPr>
      </p:sp>
      <p:sp>
        <p:nvSpPr>
          <p:cNvPr id="6" name="Text 4"/>
          <p:cNvSpPr/>
          <p:nvPr/>
        </p:nvSpPr>
        <p:spPr>
          <a:xfrm>
            <a:off x="804672" y="208483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508760" y="2084832"/>
            <a:ext cx="416052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Manual Discovery</a:t>
            </a:r>
            <a:endParaRPr lang="en-US" sz="1500" dirty="0"/>
          </a:p>
        </p:txBody>
      </p:sp>
      <p:sp>
        <p:nvSpPr>
          <p:cNvPr id="8" name="Text 6"/>
          <p:cNvSpPr/>
          <p:nvPr/>
        </p:nvSpPr>
        <p:spPr>
          <a:xfrm>
            <a:off x="1508760" y="2487168"/>
            <a:ext cx="4160520" cy="1143000"/>
          </a:xfrm>
          <a:prstGeom prst="rect">
            <a:avLst/>
          </a:prstGeom>
          <a:noFill/>
          <a:ln/>
        </p:spPr>
        <p:txBody>
          <a:bodyPr wrap="square" lIns="0" tIns="0" rIns="0" bIns="0" rtlCol="0" anchor="ctr"/>
          <a:lstStyle/>
          <a:p>
            <a:pPr indent="0" marL="0">
              <a:lnSpc>
                <a:spcPct val="125000"/>
              </a:lnSpc>
              <a:buNone/>
            </a:pPr>
            <a:r>
              <a:rPr lang="en-US" sz="1150" dirty="0">
                <a:solidFill>
                  <a:srgbClr val="1B2340"/>
                </a:solidFill>
                <a:latin typeface="Calibri" pitchFamily="34" charset="0"/>
                <a:ea typeface="Calibri" pitchFamily="34" charset="-122"/>
                <a:cs typeface="Calibri" pitchFamily="34" charset="-120"/>
              </a:rPr>
              <a:t>Analysts manually browse Meta Ad Library to spot high-performing competitor ads — slow and inconsistent.</a:t>
            </a:r>
            <a:endParaRPr lang="en-US" sz="1150" dirty="0"/>
          </a:p>
        </p:txBody>
      </p:sp>
      <p:sp>
        <p:nvSpPr>
          <p:cNvPr id="9" name="Shape 7"/>
          <p:cNvSpPr/>
          <p:nvPr/>
        </p:nvSpPr>
        <p:spPr>
          <a:xfrm>
            <a:off x="6172200" y="1828800"/>
            <a:ext cx="5349240" cy="1965960"/>
          </a:xfrm>
          <a:prstGeom prst="roundRect">
            <a:avLst>
              <a:gd name="adj" fmla="val 3721"/>
            </a:avLst>
          </a:prstGeom>
          <a:solidFill>
            <a:srgbClr val="FFFFFF"/>
          </a:solidFill>
          <a:ln/>
          <a:effectLst>
            <a:outerShdw sx="100000" sy="100000" kx="0" ky="0" algn="bl" rotWithShape="0" blurRad="76200" dist="25400" dir="5400000">
              <a:srgbClr val="1B2340">
                <a:alpha val="18000"/>
              </a:srgbClr>
            </a:outerShdw>
          </a:effectLst>
        </p:spPr>
      </p:sp>
      <p:sp>
        <p:nvSpPr>
          <p:cNvPr id="10" name="Shape 8"/>
          <p:cNvSpPr/>
          <p:nvPr/>
        </p:nvSpPr>
        <p:spPr>
          <a:xfrm>
            <a:off x="6428232" y="2084832"/>
            <a:ext cx="502920" cy="502920"/>
          </a:xfrm>
          <a:prstGeom prst="ellipse">
            <a:avLst/>
          </a:prstGeom>
          <a:solidFill>
            <a:srgbClr val="1E2761"/>
          </a:solidFill>
          <a:ln/>
        </p:spPr>
      </p:sp>
      <p:sp>
        <p:nvSpPr>
          <p:cNvPr id="11" name="Text 9"/>
          <p:cNvSpPr/>
          <p:nvPr/>
        </p:nvSpPr>
        <p:spPr>
          <a:xfrm>
            <a:off x="6428232" y="208483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7132320" y="2084832"/>
            <a:ext cx="416052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Fragmented Insight</a:t>
            </a:r>
            <a:endParaRPr lang="en-US" sz="1500" dirty="0"/>
          </a:p>
        </p:txBody>
      </p:sp>
      <p:sp>
        <p:nvSpPr>
          <p:cNvPr id="13" name="Text 11"/>
          <p:cNvSpPr/>
          <p:nvPr/>
        </p:nvSpPr>
        <p:spPr>
          <a:xfrm>
            <a:off x="7132320" y="2487168"/>
            <a:ext cx="4160520" cy="1143000"/>
          </a:xfrm>
          <a:prstGeom prst="rect">
            <a:avLst/>
          </a:prstGeom>
          <a:noFill/>
          <a:ln/>
        </p:spPr>
        <p:txBody>
          <a:bodyPr wrap="square" lIns="0" tIns="0" rIns="0" bIns="0" rtlCol="0" anchor="ctr"/>
          <a:lstStyle/>
          <a:p>
            <a:pPr indent="0" marL="0">
              <a:lnSpc>
                <a:spcPct val="125000"/>
              </a:lnSpc>
              <a:buNone/>
            </a:pPr>
            <a:r>
              <a:rPr lang="en-US" sz="1150" dirty="0">
                <a:solidFill>
                  <a:srgbClr val="1B2340"/>
                </a:solidFill>
                <a:latin typeface="Calibri" pitchFamily="34" charset="0"/>
                <a:ea typeface="Calibri" pitchFamily="34" charset="-122"/>
                <a:cs typeface="Calibri" pitchFamily="34" charset="-120"/>
              </a:rPr>
              <a:t>Winning creative patterns, hooks, and messaging strategies are extracted by hand, with no repeatable process.</a:t>
            </a:r>
            <a:endParaRPr lang="en-US" sz="1150" dirty="0"/>
          </a:p>
        </p:txBody>
      </p:sp>
      <p:sp>
        <p:nvSpPr>
          <p:cNvPr id="14" name="Shape 12"/>
          <p:cNvSpPr/>
          <p:nvPr/>
        </p:nvSpPr>
        <p:spPr>
          <a:xfrm>
            <a:off x="548640" y="4069080"/>
            <a:ext cx="5349240" cy="1965960"/>
          </a:xfrm>
          <a:prstGeom prst="roundRect">
            <a:avLst>
              <a:gd name="adj" fmla="val 3721"/>
            </a:avLst>
          </a:prstGeom>
          <a:solidFill>
            <a:srgbClr val="FFFFFF"/>
          </a:solidFill>
          <a:ln/>
          <a:effectLst>
            <a:outerShdw sx="100000" sy="100000" kx="0" ky="0" algn="bl" rotWithShape="0" blurRad="76200" dist="25400" dir="5400000">
              <a:srgbClr val="1B2340">
                <a:alpha val="18000"/>
              </a:srgbClr>
            </a:outerShdw>
          </a:effectLst>
        </p:spPr>
      </p:sp>
      <p:sp>
        <p:nvSpPr>
          <p:cNvPr id="15" name="Shape 13"/>
          <p:cNvSpPr/>
          <p:nvPr/>
        </p:nvSpPr>
        <p:spPr>
          <a:xfrm>
            <a:off x="804672" y="4325112"/>
            <a:ext cx="502920" cy="502920"/>
          </a:xfrm>
          <a:prstGeom prst="ellipse">
            <a:avLst/>
          </a:prstGeom>
          <a:solidFill>
            <a:srgbClr val="1E2761"/>
          </a:solidFill>
          <a:ln/>
        </p:spPr>
      </p:sp>
      <p:sp>
        <p:nvSpPr>
          <p:cNvPr id="16" name="Text 14"/>
          <p:cNvSpPr/>
          <p:nvPr/>
        </p:nvSpPr>
        <p:spPr>
          <a:xfrm>
            <a:off x="804672" y="432511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508760" y="4325112"/>
            <a:ext cx="416052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Slow Creative Turnaround</a:t>
            </a:r>
            <a:endParaRPr lang="en-US" sz="1500" dirty="0"/>
          </a:p>
        </p:txBody>
      </p:sp>
      <p:sp>
        <p:nvSpPr>
          <p:cNvPr id="18" name="Text 16"/>
          <p:cNvSpPr/>
          <p:nvPr/>
        </p:nvSpPr>
        <p:spPr>
          <a:xfrm>
            <a:off x="1508760" y="4727448"/>
            <a:ext cx="4160520" cy="1143000"/>
          </a:xfrm>
          <a:prstGeom prst="rect">
            <a:avLst/>
          </a:prstGeom>
          <a:noFill/>
          <a:ln/>
        </p:spPr>
        <p:txBody>
          <a:bodyPr wrap="square" lIns="0" tIns="0" rIns="0" bIns="0" rtlCol="0" anchor="ctr"/>
          <a:lstStyle/>
          <a:p>
            <a:pPr indent="0" marL="0">
              <a:lnSpc>
                <a:spcPct val="125000"/>
              </a:lnSpc>
              <a:buNone/>
            </a:pPr>
            <a:r>
              <a:rPr lang="en-US" sz="1150" dirty="0">
                <a:solidFill>
                  <a:srgbClr val="1B2340"/>
                </a:solidFill>
                <a:latin typeface="Calibri" pitchFamily="34" charset="0"/>
                <a:ea typeface="Calibri" pitchFamily="34" charset="-122"/>
                <a:cs typeface="Calibri" pitchFamily="34" charset="-120"/>
              </a:rPr>
              <a:t>Translating insights into new ad scripts and video assets takes days of coordination across teams.</a:t>
            </a:r>
            <a:endParaRPr lang="en-US" sz="1150" dirty="0"/>
          </a:p>
        </p:txBody>
      </p:sp>
      <p:sp>
        <p:nvSpPr>
          <p:cNvPr id="19" name="Shape 17"/>
          <p:cNvSpPr/>
          <p:nvPr/>
        </p:nvSpPr>
        <p:spPr>
          <a:xfrm>
            <a:off x="6172200" y="4069080"/>
            <a:ext cx="5349240" cy="1965960"/>
          </a:xfrm>
          <a:prstGeom prst="roundRect">
            <a:avLst>
              <a:gd name="adj" fmla="val 3721"/>
            </a:avLst>
          </a:prstGeom>
          <a:solidFill>
            <a:srgbClr val="FFFFFF"/>
          </a:solidFill>
          <a:ln/>
          <a:effectLst>
            <a:outerShdw sx="100000" sy="100000" kx="0" ky="0" algn="bl" rotWithShape="0" blurRad="76200" dist="25400" dir="5400000">
              <a:srgbClr val="1B2340">
                <a:alpha val="18000"/>
              </a:srgbClr>
            </a:outerShdw>
          </a:effectLst>
        </p:spPr>
      </p:sp>
      <p:sp>
        <p:nvSpPr>
          <p:cNvPr id="20" name="Shape 18"/>
          <p:cNvSpPr/>
          <p:nvPr/>
        </p:nvSpPr>
        <p:spPr>
          <a:xfrm>
            <a:off x="6428232" y="4325112"/>
            <a:ext cx="502920" cy="502920"/>
          </a:xfrm>
          <a:prstGeom prst="ellipse">
            <a:avLst/>
          </a:prstGeom>
          <a:solidFill>
            <a:srgbClr val="1E2761"/>
          </a:solidFill>
          <a:ln/>
        </p:spPr>
      </p:sp>
      <p:sp>
        <p:nvSpPr>
          <p:cNvPr id="21" name="Text 19"/>
          <p:cNvSpPr/>
          <p:nvPr/>
        </p:nvSpPr>
        <p:spPr>
          <a:xfrm>
            <a:off x="6428232" y="432511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7132320" y="4325112"/>
            <a:ext cx="416052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No Always-On Interface</a:t>
            </a:r>
            <a:endParaRPr lang="en-US" sz="1500" dirty="0"/>
          </a:p>
        </p:txBody>
      </p:sp>
      <p:sp>
        <p:nvSpPr>
          <p:cNvPr id="23" name="Text 21"/>
          <p:cNvSpPr/>
          <p:nvPr/>
        </p:nvSpPr>
        <p:spPr>
          <a:xfrm>
            <a:off x="7132320" y="4727448"/>
            <a:ext cx="4160520" cy="1143000"/>
          </a:xfrm>
          <a:prstGeom prst="rect">
            <a:avLst/>
          </a:prstGeom>
          <a:noFill/>
          <a:ln/>
        </p:spPr>
        <p:txBody>
          <a:bodyPr wrap="square" lIns="0" tIns="0" rIns="0" bIns="0" rtlCol="0" anchor="ctr"/>
          <a:lstStyle/>
          <a:p>
            <a:pPr indent="0" marL="0">
              <a:lnSpc>
                <a:spcPct val="125000"/>
              </a:lnSpc>
              <a:buNone/>
            </a:pPr>
            <a:r>
              <a:rPr lang="en-US" sz="1150" dirty="0">
                <a:solidFill>
                  <a:srgbClr val="1B2340"/>
                </a:solidFill>
                <a:latin typeface="Calibri" pitchFamily="34" charset="0"/>
                <a:ea typeface="Calibri" pitchFamily="34" charset="-122"/>
                <a:cs typeface="Calibri" pitchFamily="34" charset="-120"/>
              </a:rPr>
              <a:t>Stakeholders lack a lightweight way to request, review, and receive marketing outputs on demand.</a:t>
            </a:r>
            <a:endParaRPr lang="en-US" sz="1150" dirty="0"/>
          </a:p>
        </p:txBody>
      </p:sp>
      <p:sp>
        <p:nvSpPr>
          <p:cNvPr id="24" name="Text 22"/>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CrowdWisdomTrading  |  Hermes Marketing Agents</a:t>
            </a:r>
            <a:endParaRPr lang="en-US" sz="900" dirty="0"/>
          </a:p>
        </p:txBody>
      </p:sp>
      <p:sp>
        <p:nvSpPr>
          <p:cNvPr id="25" name="Text 2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Objectives</a:t>
            </a:r>
            <a:endParaRPr lang="en-US" sz="3200" dirty="0"/>
          </a:p>
        </p:txBody>
      </p:sp>
      <p:sp>
        <p:nvSpPr>
          <p:cNvPr id="3" name="Text 1"/>
          <p:cNvSpPr/>
          <p:nvPr/>
        </p:nvSpPr>
        <p:spPr>
          <a:xfrm>
            <a:off x="548640" y="1051560"/>
            <a:ext cx="9144000" cy="365760"/>
          </a:xfrm>
          <a:prstGeom prst="rect">
            <a:avLst/>
          </a:prstGeom>
          <a:noFill/>
          <a:ln/>
        </p:spPr>
        <p:txBody>
          <a:bodyPr wrap="square" lIns="0" tIns="0" rIns="0" bIns="0" rtlCol="0" anchor="ctr"/>
          <a:lstStyle/>
          <a:p>
            <a:pPr indent="0" marL="0">
              <a:buNone/>
            </a:pPr>
            <a:r>
              <a:rPr lang="en-US" sz="1300" i="1" dirty="0">
                <a:solidFill>
                  <a:srgbClr val="5A6B8C"/>
                </a:solidFill>
                <a:latin typeface="Calibri" pitchFamily="34" charset="0"/>
                <a:ea typeface="Calibri" pitchFamily="34" charset="-122"/>
                <a:cs typeface="Calibri" pitchFamily="34" charset="-120"/>
              </a:rPr>
              <a:t>What the system must achieve end-to-end</a:t>
            </a:r>
            <a:endParaRPr lang="en-US" sz="1300" dirty="0"/>
          </a:p>
        </p:txBody>
      </p:sp>
      <p:sp>
        <p:nvSpPr>
          <p:cNvPr id="4" name="Shape 2"/>
          <p:cNvSpPr/>
          <p:nvPr/>
        </p:nvSpPr>
        <p:spPr>
          <a:xfrm>
            <a:off x="548640" y="1828800"/>
            <a:ext cx="3520440" cy="1737360"/>
          </a:xfrm>
          <a:prstGeom prst="roundRect">
            <a:avLst>
              <a:gd name="adj" fmla="val 4211"/>
            </a:avLst>
          </a:prstGeom>
          <a:solidFill>
            <a:srgbClr val="F7F9FC"/>
          </a:solidFill>
          <a:ln w="12700">
            <a:solidFill>
              <a:srgbClr val="CADCFC"/>
            </a:solidFill>
            <a:prstDash val="solid"/>
          </a:ln>
        </p:spPr>
      </p:sp>
      <p:sp>
        <p:nvSpPr>
          <p:cNvPr id="5" name="Shape 3"/>
          <p:cNvSpPr/>
          <p:nvPr/>
        </p:nvSpPr>
        <p:spPr>
          <a:xfrm>
            <a:off x="777240" y="2057400"/>
            <a:ext cx="457200" cy="457200"/>
          </a:xfrm>
          <a:prstGeom prst="ellipse">
            <a:avLst/>
          </a:prstGeom>
          <a:solidFill>
            <a:srgbClr val="F2B705"/>
          </a:solidFill>
          <a:ln/>
        </p:spPr>
      </p:sp>
      <p:sp>
        <p:nvSpPr>
          <p:cNvPr id="6" name="Text 4"/>
          <p:cNvSpPr/>
          <p:nvPr/>
        </p:nvSpPr>
        <p:spPr>
          <a:xfrm>
            <a:off x="777240" y="2057400"/>
            <a:ext cx="457200" cy="457200"/>
          </a:xfrm>
          <a:prstGeom prst="rect">
            <a:avLst/>
          </a:prstGeom>
          <a:noFill/>
          <a:ln/>
        </p:spPr>
        <p:txBody>
          <a:bodyPr wrap="square" lIns="0" tIns="0" rIns="0" bIns="0"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777240" y="2651760"/>
            <a:ext cx="306324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Discover</a:t>
            </a:r>
            <a:endParaRPr lang="en-US" sz="1400" dirty="0"/>
          </a:p>
        </p:txBody>
      </p:sp>
      <p:sp>
        <p:nvSpPr>
          <p:cNvPr id="8" name="Text 6"/>
          <p:cNvSpPr/>
          <p:nvPr/>
        </p:nvSpPr>
        <p:spPr>
          <a:xfrm>
            <a:off x="777240" y="2944368"/>
            <a:ext cx="3063240" cy="548640"/>
          </a:xfrm>
          <a:prstGeom prst="rect">
            <a:avLst/>
          </a:prstGeom>
          <a:noFill/>
          <a:ln/>
        </p:spPr>
        <p:txBody>
          <a:bodyPr wrap="square" lIns="0" tIns="0" rIns="0" bIns="0" rtlCol="0" anchor="ctr"/>
          <a:lstStyle/>
          <a:p>
            <a:pPr indent="0" marL="0">
              <a:lnSpc>
                <a:spcPct val="120000"/>
              </a:lnSpc>
              <a:buNone/>
            </a:pPr>
            <a:r>
              <a:rPr lang="en-US" sz="1050" dirty="0">
                <a:solidFill>
                  <a:srgbClr val="1B2340"/>
                </a:solidFill>
                <a:latin typeface="Calibri" pitchFamily="34" charset="0"/>
                <a:ea typeface="Calibri" pitchFamily="34" charset="-122"/>
                <a:cs typeface="Calibri" pitchFamily="34" charset="-120"/>
              </a:rPr>
              <a:t>Automatically identify high-performing Meta ads relevant to target verticals via Apify scraping.</a:t>
            </a:r>
            <a:endParaRPr lang="en-US" sz="1050" dirty="0"/>
          </a:p>
        </p:txBody>
      </p:sp>
      <p:sp>
        <p:nvSpPr>
          <p:cNvPr id="9" name="Shape 7"/>
          <p:cNvSpPr/>
          <p:nvPr/>
        </p:nvSpPr>
        <p:spPr>
          <a:xfrm>
            <a:off x="4297680" y="1828800"/>
            <a:ext cx="3520440" cy="1737360"/>
          </a:xfrm>
          <a:prstGeom prst="roundRect">
            <a:avLst>
              <a:gd name="adj" fmla="val 4211"/>
            </a:avLst>
          </a:prstGeom>
          <a:solidFill>
            <a:srgbClr val="F7F9FC"/>
          </a:solidFill>
          <a:ln w="12700">
            <a:solidFill>
              <a:srgbClr val="CADCFC"/>
            </a:solidFill>
            <a:prstDash val="solid"/>
          </a:ln>
        </p:spPr>
      </p:sp>
      <p:sp>
        <p:nvSpPr>
          <p:cNvPr id="10" name="Shape 8"/>
          <p:cNvSpPr/>
          <p:nvPr/>
        </p:nvSpPr>
        <p:spPr>
          <a:xfrm>
            <a:off x="4526280" y="2057400"/>
            <a:ext cx="457200" cy="457200"/>
          </a:xfrm>
          <a:prstGeom prst="ellipse">
            <a:avLst/>
          </a:prstGeom>
          <a:solidFill>
            <a:srgbClr val="F2B705"/>
          </a:solidFill>
          <a:ln/>
        </p:spPr>
      </p:sp>
      <p:sp>
        <p:nvSpPr>
          <p:cNvPr id="11" name="Text 9"/>
          <p:cNvSpPr/>
          <p:nvPr/>
        </p:nvSpPr>
        <p:spPr>
          <a:xfrm>
            <a:off x="4526280" y="2057400"/>
            <a:ext cx="457200" cy="457200"/>
          </a:xfrm>
          <a:prstGeom prst="rect">
            <a:avLst/>
          </a:prstGeom>
          <a:noFill/>
          <a:ln/>
        </p:spPr>
        <p:txBody>
          <a:bodyPr wrap="square" lIns="0" tIns="0" rIns="0" bIns="0"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4526280" y="2651760"/>
            <a:ext cx="306324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Extract</a:t>
            </a:r>
            <a:endParaRPr lang="en-US" sz="1400" dirty="0"/>
          </a:p>
        </p:txBody>
      </p:sp>
      <p:sp>
        <p:nvSpPr>
          <p:cNvPr id="13" name="Text 11"/>
          <p:cNvSpPr/>
          <p:nvPr/>
        </p:nvSpPr>
        <p:spPr>
          <a:xfrm>
            <a:off x="4526280" y="2944368"/>
            <a:ext cx="3063240" cy="548640"/>
          </a:xfrm>
          <a:prstGeom prst="rect">
            <a:avLst/>
          </a:prstGeom>
          <a:noFill/>
          <a:ln/>
        </p:spPr>
        <p:txBody>
          <a:bodyPr wrap="square" lIns="0" tIns="0" rIns="0" bIns="0" rtlCol="0" anchor="ctr"/>
          <a:lstStyle/>
          <a:p>
            <a:pPr indent="0" marL="0">
              <a:lnSpc>
                <a:spcPct val="120000"/>
              </a:lnSpc>
              <a:buNone/>
            </a:pPr>
            <a:r>
              <a:rPr lang="en-US" sz="1050" dirty="0">
                <a:solidFill>
                  <a:srgbClr val="1B2340"/>
                </a:solidFill>
                <a:latin typeface="Calibri" pitchFamily="34" charset="0"/>
                <a:ea typeface="Calibri" pitchFamily="34" charset="-122"/>
                <a:cs typeface="Calibri" pitchFamily="34" charset="-120"/>
              </a:rPr>
              <a:t>Analyze creative, copy, and structural patterns to surface actionable marketing insights.</a:t>
            </a:r>
            <a:endParaRPr lang="en-US" sz="1050" dirty="0"/>
          </a:p>
        </p:txBody>
      </p:sp>
      <p:sp>
        <p:nvSpPr>
          <p:cNvPr id="14" name="Shape 12"/>
          <p:cNvSpPr/>
          <p:nvPr/>
        </p:nvSpPr>
        <p:spPr>
          <a:xfrm>
            <a:off x="8046720" y="1828800"/>
            <a:ext cx="3520440" cy="1737360"/>
          </a:xfrm>
          <a:prstGeom prst="roundRect">
            <a:avLst>
              <a:gd name="adj" fmla="val 4211"/>
            </a:avLst>
          </a:prstGeom>
          <a:solidFill>
            <a:srgbClr val="F7F9FC"/>
          </a:solidFill>
          <a:ln w="12700">
            <a:solidFill>
              <a:srgbClr val="CADCFC"/>
            </a:solidFill>
            <a:prstDash val="solid"/>
          </a:ln>
        </p:spPr>
      </p:sp>
      <p:sp>
        <p:nvSpPr>
          <p:cNvPr id="15" name="Shape 13"/>
          <p:cNvSpPr/>
          <p:nvPr/>
        </p:nvSpPr>
        <p:spPr>
          <a:xfrm>
            <a:off x="8275320" y="2057400"/>
            <a:ext cx="457200" cy="457200"/>
          </a:xfrm>
          <a:prstGeom prst="ellipse">
            <a:avLst/>
          </a:prstGeom>
          <a:solidFill>
            <a:srgbClr val="F2B705"/>
          </a:solidFill>
          <a:ln/>
        </p:spPr>
      </p:sp>
      <p:sp>
        <p:nvSpPr>
          <p:cNvPr id="16" name="Text 14"/>
          <p:cNvSpPr/>
          <p:nvPr/>
        </p:nvSpPr>
        <p:spPr>
          <a:xfrm>
            <a:off x="8275320" y="2057400"/>
            <a:ext cx="457200" cy="457200"/>
          </a:xfrm>
          <a:prstGeom prst="rect">
            <a:avLst/>
          </a:prstGeom>
          <a:noFill/>
          <a:ln/>
        </p:spPr>
        <p:txBody>
          <a:bodyPr wrap="square" lIns="0" tIns="0" rIns="0" bIns="0"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8275320" y="2651760"/>
            <a:ext cx="306324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Generate</a:t>
            </a:r>
            <a:endParaRPr lang="en-US" sz="1400" dirty="0"/>
          </a:p>
        </p:txBody>
      </p:sp>
      <p:sp>
        <p:nvSpPr>
          <p:cNvPr id="18" name="Text 16"/>
          <p:cNvSpPr/>
          <p:nvPr/>
        </p:nvSpPr>
        <p:spPr>
          <a:xfrm>
            <a:off x="8275320" y="2944368"/>
            <a:ext cx="3063240" cy="548640"/>
          </a:xfrm>
          <a:prstGeom prst="rect">
            <a:avLst/>
          </a:prstGeom>
          <a:noFill/>
          <a:ln/>
        </p:spPr>
        <p:txBody>
          <a:bodyPr wrap="square" lIns="0" tIns="0" rIns="0" bIns="0" rtlCol="0" anchor="ctr"/>
          <a:lstStyle/>
          <a:p>
            <a:pPr indent="0" marL="0">
              <a:lnSpc>
                <a:spcPct val="120000"/>
              </a:lnSpc>
              <a:buNone/>
            </a:pPr>
            <a:r>
              <a:rPr lang="en-US" sz="1050" dirty="0">
                <a:solidFill>
                  <a:srgbClr val="1B2340"/>
                </a:solidFill>
                <a:latin typeface="Calibri" pitchFamily="34" charset="0"/>
                <a:ea typeface="Calibri" pitchFamily="34" charset="-122"/>
                <a:cs typeface="Calibri" pitchFamily="34" charset="-120"/>
              </a:rPr>
              <a:t>Produce new advertising scripts grounded in proven, winning patterns using LLMs via OpenRouter.</a:t>
            </a:r>
            <a:endParaRPr lang="en-US" sz="1050" dirty="0"/>
          </a:p>
        </p:txBody>
      </p:sp>
      <p:sp>
        <p:nvSpPr>
          <p:cNvPr id="19" name="Shape 17"/>
          <p:cNvSpPr/>
          <p:nvPr/>
        </p:nvSpPr>
        <p:spPr>
          <a:xfrm>
            <a:off x="548640" y="3794760"/>
            <a:ext cx="3520440" cy="1737360"/>
          </a:xfrm>
          <a:prstGeom prst="roundRect">
            <a:avLst>
              <a:gd name="adj" fmla="val 4211"/>
            </a:avLst>
          </a:prstGeom>
          <a:solidFill>
            <a:srgbClr val="F7F9FC"/>
          </a:solidFill>
          <a:ln w="12700">
            <a:solidFill>
              <a:srgbClr val="CADCFC"/>
            </a:solidFill>
            <a:prstDash val="solid"/>
          </a:ln>
        </p:spPr>
      </p:sp>
      <p:sp>
        <p:nvSpPr>
          <p:cNvPr id="20" name="Shape 18"/>
          <p:cNvSpPr/>
          <p:nvPr/>
        </p:nvSpPr>
        <p:spPr>
          <a:xfrm>
            <a:off x="777240" y="4023360"/>
            <a:ext cx="457200" cy="457200"/>
          </a:xfrm>
          <a:prstGeom prst="ellipse">
            <a:avLst/>
          </a:prstGeom>
          <a:solidFill>
            <a:srgbClr val="F2B705"/>
          </a:solidFill>
          <a:ln/>
        </p:spPr>
      </p:sp>
      <p:sp>
        <p:nvSpPr>
          <p:cNvPr id="21" name="Text 19"/>
          <p:cNvSpPr/>
          <p:nvPr/>
        </p:nvSpPr>
        <p:spPr>
          <a:xfrm>
            <a:off x="777240" y="4023360"/>
            <a:ext cx="457200" cy="457200"/>
          </a:xfrm>
          <a:prstGeom prst="rect">
            <a:avLst/>
          </a:prstGeom>
          <a:noFill/>
          <a:ln/>
        </p:spPr>
        <p:txBody>
          <a:bodyPr wrap="square" lIns="0" tIns="0" rIns="0" bIns="0"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777240" y="4617720"/>
            <a:ext cx="306324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Produce Video</a:t>
            </a:r>
            <a:endParaRPr lang="en-US" sz="1400" dirty="0"/>
          </a:p>
        </p:txBody>
      </p:sp>
      <p:sp>
        <p:nvSpPr>
          <p:cNvPr id="23" name="Text 21"/>
          <p:cNvSpPr/>
          <p:nvPr/>
        </p:nvSpPr>
        <p:spPr>
          <a:xfrm>
            <a:off x="777240" y="4910328"/>
            <a:ext cx="3063240" cy="548640"/>
          </a:xfrm>
          <a:prstGeom prst="rect">
            <a:avLst/>
          </a:prstGeom>
          <a:noFill/>
          <a:ln/>
        </p:spPr>
        <p:txBody>
          <a:bodyPr wrap="square" lIns="0" tIns="0" rIns="0" bIns="0" rtlCol="0" anchor="ctr"/>
          <a:lstStyle/>
          <a:p>
            <a:pPr indent="0" marL="0">
              <a:lnSpc>
                <a:spcPct val="120000"/>
              </a:lnSpc>
              <a:buNone/>
            </a:pPr>
            <a:r>
              <a:rPr lang="en-US" sz="1050" dirty="0">
                <a:solidFill>
                  <a:srgbClr val="1B2340"/>
                </a:solidFill>
                <a:latin typeface="Calibri" pitchFamily="34" charset="0"/>
                <a:ea typeface="Calibri" pitchFamily="34" charset="-122"/>
                <a:cs typeface="Calibri" pitchFamily="34" charset="-120"/>
              </a:rPr>
              <a:t>Convert scripts into AI-generated video advertisements using OpenMontage.</a:t>
            </a:r>
            <a:endParaRPr lang="en-US" sz="1050" dirty="0"/>
          </a:p>
        </p:txBody>
      </p:sp>
      <p:sp>
        <p:nvSpPr>
          <p:cNvPr id="24" name="Shape 22"/>
          <p:cNvSpPr/>
          <p:nvPr/>
        </p:nvSpPr>
        <p:spPr>
          <a:xfrm>
            <a:off x="4297680" y="3794760"/>
            <a:ext cx="3520440" cy="1737360"/>
          </a:xfrm>
          <a:prstGeom prst="roundRect">
            <a:avLst>
              <a:gd name="adj" fmla="val 4211"/>
            </a:avLst>
          </a:prstGeom>
          <a:solidFill>
            <a:srgbClr val="F7F9FC"/>
          </a:solidFill>
          <a:ln w="12700">
            <a:solidFill>
              <a:srgbClr val="CADCFC"/>
            </a:solidFill>
            <a:prstDash val="solid"/>
          </a:ln>
        </p:spPr>
      </p:sp>
      <p:sp>
        <p:nvSpPr>
          <p:cNvPr id="25" name="Shape 23"/>
          <p:cNvSpPr/>
          <p:nvPr/>
        </p:nvSpPr>
        <p:spPr>
          <a:xfrm>
            <a:off x="4526280" y="4023360"/>
            <a:ext cx="457200" cy="457200"/>
          </a:xfrm>
          <a:prstGeom prst="ellipse">
            <a:avLst/>
          </a:prstGeom>
          <a:solidFill>
            <a:srgbClr val="F2B705"/>
          </a:solidFill>
          <a:ln/>
        </p:spPr>
      </p:sp>
      <p:sp>
        <p:nvSpPr>
          <p:cNvPr id="26" name="Text 24"/>
          <p:cNvSpPr/>
          <p:nvPr/>
        </p:nvSpPr>
        <p:spPr>
          <a:xfrm>
            <a:off x="4526280" y="4023360"/>
            <a:ext cx="457200" cy="457200"/>
          </a:xfrm>
          <a:prstGeom prst="rect">
            <a:avLst/>
          </a:prstGeom>
          <a:noFill/>
          <a:ln/>
        </p:spPr>
        <p:txBody>
          <a:bodyPr wrap="square" lIns="0" tIns="0" rIns="0" bIns="0"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4526280" y="4617720"/>
            <a:ext cx="306324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Interact</a:t>
            </a:r>
            <a:endParaRPr lang="en-US" sz="1400" dirty="0"/>
          </a:p>
        </p:txBody>
      </p:sp>
      <p:sp>
        <p:nvSpPr>
          <p:cNvPr id="28" name="Text 26"/>
          <p:cNvSpPr/>
          <p:nvPr/>
        </p:nvSpPr>
        <p:spPr>
          <a:xfrm>
            <a:off x="4526280" y="4910328"/>
            <a:ext cx="3063240" cy="548640"/>
          </a:xfrm>
          <a:prstGeom prst="rect">
            <a:avLst/>
          </a:prstGeom>
          <a:noFill/>
          <a:ln/>
        </p:spPr>
        <p:txBody>
          <a:bodyPr wrap="square" lIns="0" tIns="0" rIns="0" bIns="0" rtlCol="0" anchor="ctr"/>
          <a:lstStyle/>
          <a:p>
            <a:pPr indent="0" marL="0">
              <a:lnSpc>
                <a:spcPct val="120000"/>
              </a:lnSpc>
              <a:buNone/>
            </a:pPr>
            <a:r>
              <a:rPr lang="en-US" sz="1050" dirty="0">
                <a:solidFill>
                  <a:srgbClr val="1B2340"/>
                </a:solidFill>
                <a:latin typeface="Calibri" pitchFamily="34" charset="0"/>
                <a:ea typeface="Calibri" pitchFamily="34" charset="-122"/>
                <a:cs typeface="Calibri" pitchFamily="34" charset="-120"/>
              </a:rPr>
              <a:t>Expose the full workflow through a Telegram bot for on-demand requests and delivery.</a:t>
            </a:r>
            <a:endParaRPr lang="en-US" sz="1050" dirty="0"/>
          </a:p>
        </p:txBody>
      </p:sp>
      <p:sp>
        <p:nvSpPr>
          <p:cNvPr id="29" name="Shape 27"/>
          <p:cNvSpPr/>
          <p:nvPr/>
        </p:nvSpPr>
        <p:spPr>
          <a:xfrm>
            <a:off x="8046720" y="3794760"/>
            <a:ext cx="3520440" cy="1737360"/>
          </a:xfrm>
          <a:prstGeom prst="roundRect">
            <a:avLst>
              <a:gd name="adj" fmla="val 4211"/>
            </a:avLst>
          </a:prstGeom>
          <a:solidFill>
            <a:srgbClr val="F7F9FC"/>
          </a:solidFill>
          <a:ln w="12700">
            <a:solidFill>
              <a:srgbClr val="CADCFC"/>
            </a:solidFill>
            <a:prstDash val="solid"/>
          </a:ln>
        </p:spPr>
      </p:sp>
      <p:sp>
        <p:nvSpPr>
          <p:cNvPr id="30" name="Shape 28"/>
          <p:cNvSpPr/>
          <p:nvPr/>
        </p:nvSpPr>
        <p:spPr>
          <a:xfrm>
            <a:off x="8275320" y="4023360"/>
            <a:ext cx="457200" cy="457200"/>
          </a:xfrm>
          <a:prstGeom prst="ellipse">
            <a:avLst/>
          </a:prstGeom>
          <a:solidFill>
            <a:srgbClr val="F2B705"/>
          </a:solidFill>
          <a:ln/>
        </p:spPr>
      </p:sp>
      <p:sp>
        <p:nvSpPr>
          <p:cNvPr id="31" name="Text 29"/>
          <p:cNvSpPr/>
          <p:nvPr/>
        </p:nvSpPr>
        <p:spPr>
          <a:xfrm>
            <a:off x="8275320" y="4023360"/>
            <a:ext cx="457200" cy="457200"/>
          </a:xfrm>
          <a:prstGeom prst="rect">
            <a:avLst/>
          </a:prstGeom>
          <a:noFill/>
          <a:ln/>
        </p:spPr>
        <p:txBody>
          <a:bodyPr wrap="square" lIns="0" tIns="0" rIns="0" bIns="0"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6</a:t>
            </a:r>
            <a:endParaRPr lang="en-US" sz="1400" dirty="0"/>
          </a:p>
        </p:txBody>
      </p:sp>
      <p:sp>
        <p:nvSpPr>
          <p:cNvPr id="32" name="Text 30"/>
          <p:cNvSpPr/>
          <p:nvPr/>
        </p:nvSpPr>
        <p:spPr>
          <a:xfrm>
            <a:off x="8275320" y="4617720"/>
            <a:ext cx="306324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Persist &amp; Audit</a:t>
            </a:r>
            <a:endParaRPr lang="en-US" sz="1400" dirty="0"/>
          </a:p>
        </p:txBody>
      </p:sp>
      <p:sp>
        <p:nvSpPr>
          <p:cNvPr id="33" name="Text 31"/>
          <p:cNvSpPr/>
          <p:nvPr/>
        </p:nvSpPr>
        <p:spPr>
          <a:xfrm>
            <a:off x="8275320" y="4910328"/>
            <a:ext cx="3063240" cy="548640"/>
          </a:xfrm>
          <a:prstGeom prst="rect">
            <a:avLst/>
          </a:prstGeom>
          <a:noFill/>
          <a:ln/>
        </p:spPr>
        <p:txBody>
          <a:bodyPr wrap="square" lIns="0" tIns="0" rIns="0" bIns="0" rtlCol="0" anchor="ctr"/>
          <a:lstStyle/>
          <a:p>
            <a:pPr indent="0" marL="0">
              <a:lnSpc>
                <a:spcPct val="120000"/>
              </a:lnSpc>
              <a:buNone/>
            </a:pPr>
            <a:r>
              <a:rPr lang="en-US" sz="1050" dirty="0">
                <a:solidFill>
                  <a:srgbClr val="1B2340"/>
                </a:solidFill>
                <a:latin typeface="Calibri" pitchFamily="34" charset="0"/>
                <a:ea typeface="Calibri" pitchFamily="34" charset="-122"/>
                <a:cs typeface="Calibri" pitchFamily="34" charset="-120"/>
              </a:rPr>
              <a:t>Store structured run data, outputs, and logs in SQLite for traceability.</a:t>
            </a:r>
            <a:endParaRPr lang="en-US" sz="1050" dirty="0"/>
          </a:p>
        </p:txBody>
      </p:sp>
      <p:sp>
        <p:nvSpPr>
          <p:cNvPr id="34" name="Text 32"/>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CrowdWisdomTrading  |  Hermes Marketing Agents</a:t>
            </a:r>
            <a:endParaRPr lang="en-US" sz="900" dirty="0"/>
          </a:p>
        </p:txBody>
      </p:sp>
      <p:sp>
        <p:nvSpPr>
          <p:cNvPr id="35" name="Text 3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Requirements</a:t>
            </a:r>
            <a:endParaRPr lang="en-US" sz="3200" dirty="0"/>
          </a:p>
        </p:txBody>
      </p:sp>
      <p:sp>
        <p:nvSpPr>
          <p:cNvPr id="3" name="Text 1"/>
          <p:cNvSpPr/>
          <p:nvPr/>
        </p:nvSpPr>
        <p:spPr>
          <a:xfrm>
            <a:off x="548640" y="1051560"/>
            <a:ext cx="9144000" cy="365760"/>
          </a:xfrm>
          <a:prstGeom prst="rect">
            <a:avLst/>
          </a:prstGeom>
          <a:noFill/>
          <a:ln/>
        </p:spPr>
        <p:txBody>
          <a:bodyPr wrap="square" lIns="0" tIns="0" rIns="0" bIns="0" rtlCol="0" anchor="ctr"/>
          <a:lstStyle/>
          <a:p>
            <a:pPr indent="0" marL="0">
              <a:buNone/>
            </a:pPr>
            <a:r>
              <a:rPr lang="en-US" sz="1300" i="1" dirty="0">
                <a:solidFill>
                  <a:srgbClr val="5A6B8C"/>
                </a:solidFill>
                <a:latin typeface="Calibri" pitchFamily="34" charset="0"/>
                <a:ea typeface="Calibri" pitchFamily="34" charset="-122"/>
                <a:cs typeface="Calibri" pitchFamily="34" charset="-120"/>
              </a:rPr>
              <a:t>Functional and non-functional scope</a:t>
            </a:r>
            <a:endParaRPr lang="en-US" sz="1300" dirty="0"/>
          </a:p>
        </p:txBody>
      </p:sp>
      <p:sp>
        <p:nvSpPr>
          <p:cNvPr id="4" name="Shape 2"/>
          <p:cNvSpPr/>
          <p:nvPr/>
        </p:nvSpPr>
        <p:spPr>
          <a:xfrm>
            <a:off x="548640" y="1828800"/>
            <a:ext cx="5440680" cy="4297680"/>
          </a:xfrm>
          <a:prstGeom prst="roundRect">
            <a:avLst>
              <a:gd name="adj" fmla="val 1702"/>
            </a:avLst>
          </a:prstGeom>
          <a:solidFill>
            <a:srgbClr val="FFFFFF"/>
          </a:solidFill>
          <a:ln/>
          <a:effectLst>
            <a:outerShdw sx="100000" sy="100000" kx="0" ky="0" algn="bl" rotWithShape="0" blurRad="76200" dist="25400" dir="5400000">
              <a:srgbClr val="1B2340">
                <a:alpha val="16000"/>
              </a:srgbClr>
            </a:outerShdw>
          </a:effectLst>
        </p:spPr>
      </p:sp>
      <p:sp>
        <p:nvSpPr>
          <p:cNvPr id="5" name="Text 3"/>
          <p:cNvSpPr/>
          <p:nvPr/>
        </p:nvSpPr>
        <p:spPr>
          <a:xfrm>
            <a:off x="914400" y="2057400"/>
            <a:ext cx="475488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Functional</a:t>
            </a:r>
            <a:endParaRPr lang="en-US" sz="1600" dirty="0"/>
          </a:p>
        </p:txBody>
      </p:sp>
      <p:sp>
        <p:nvSpPr>
          <p:cNvPr id="6" name="Text 4"/>
          <p:cNvSpPr/>
          <p:nvPr/>
        </p:nvSpPr>
        <p:spPr>
          <a:xfrm>
            <a:off x="914400" y="2468880"/>
            <a:ext cx="4754880" cy="347472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rgbClr val="1B2340"/>
                </a:solidFill>
                <a:latin typeface="Calibri" pitchFamily="34" charset="0"/>
                <a:ea typeface="Calibri" pitchFamily="34" charset="-122"/>
                <a:cs typeface="Calibri" pitchFamily="34" charset="-120"/>
              </a:rPr>
              <a:t>Scrape and rank Meta ads by engagement signal</a:t>
            </a:r>
            <a:endParaRPr lang="en-US" sz="1200" dirty="0"/>
          </a:p>
          <a:p>
            <a:pPr marL="342900" indent="-342900">
              <a:spcAft>
                <a:spcPts val="1000"/>
              </a:spcAft>
              <a:buSzPct val="100000"/>
              <a:buChar char="•"/>
            </a:pPr>
            <a:r>
              <a:rPr lang="en-US" sz="1200" dirty="0">
                <a:solidFill>
                  <a:srgbClr val="1B2340"/>
                </a:solidFill>
                <a:latin typeface="Calibri" pitchFamily="34" charset="0"/>
                <a:ea typeface="Calibri" pitchFamily="34" charset="-122"/>
                <a:cs typeface="Calibri" pitchFamily="34" charset="-120"/>
              </a:rPr>
              <a:t>Extract hooks, structure, and messaging patterns</a:t>
            </a:r>
            <a:endParaRPr lang="en-US" sz="1200" dirty="0"/>
          </a:p>
          <a:p>
            <a:pPr marL="342900" indent="-342900">
              <a:spcAft>
                <a:spcPts val="1000"/>
              </a:spcAft>
              <a:buSzPct val="100000"/>
              <a:buChar char="•"/>
            </a:pPr>
            <a:r>
              <a:rPr lang="en-US" sz="1200" dirty="0">
                <a:solidFill>
                  <a:srgbClr val="1B2340"/>
                </a:solidFill>
                <a:latin typeface="Calibri" pitchFamily="34" charset="0"/>
                <a:ea typeface="Calibri" pitchFamily="34" charset="-122"/>
                <a:cs typeface="Calibri" pitchFamily="34" charset="-120"/>
              </a:rPr>
              <a:t>Generate scripts via LLM agents on OpenRouter</a:t>
            </a:r>
            <a:endParaRPr lang="en-US" sz="1200" dirty="0"/>
          </a:p>
          <a:p>
            <a:pPr marL="342900" indent="-342900">
              <a:spcAft>
                <a:spcPts val="1000"/>
              </a:spcAft>
              <a:buSzPct val="100000"/>
              <a:buChar char="•"/>
            </a:pPr>
            <a:r>
              <a:rPr lang="en-US" sz="1200" dirty="0">
                <a:solidFill>
                  <a:srgbClr val="1B2340"/>
                </a:solidFill>
                <a:latin typeface="Calibri" pitchFamily="34" charset="0"/>
                <a:ea typeface="Calibri" pitchFamily="34" charset="-122"/>
                <a:cs typeface="Calibri" pitchFamily="34" charset="-120"/>
              </a:rPr>
              <a:t>Render AI video ads through OpenMontage</a:t>
            </a:r>
            <a:endParaRPr lang="en-US" sz="1200" dirty="0"/>
          </a:p>
          <a:p>
            <a:pPr marL="342900" indent="-342900">
              <a:spcAft>
                <a:spcPts val="1000"/>
              </a:spcAft>
              <a:buSzPct val="100000"/>
              <a:buChar char="•"/>
            </a:pPr>
            <a:r>
              <a:rPr lang="en-US" sz="1200" dirty="0">
                <a:solidFill>
                  <a:srgbClr val="1B2340"/>
                </a:solidFill>
                <a:latin typeface="Calibri" pitchFamily="34" charset="0"/>
                <a:ea typeface="Calibri" pitchFamily="34" charset="-122"/>
                <a:cs typeface="Calibri" pitchFamily="34" charset="-120"/>
              </a:rPr>
              <a:t>Serve requests and results via Telegram bot</a:t>
            </a:r>
            <a:endParaRPr lang="en-US" sz="1200" dirty="0"/>
          </a:p>
          <a:p>
            <a:pPr marL="342900" indent="-342900">
              <a:spcAft>
                <a:spcPts val="1000"/>
              </a:spcAft>
              <a:buSzPct val="100000"/>
              <a:buChar char="•"/>
            </a:pPr>
            <a:r>
              <a:rPr lang="en-US" sz="1200" dirty="0">
                <a:solidFill>
                  <a:srgbClr val="1B2340"/>
                </a:solidFill>
                <a:latin typeface="Calibri" pitchFamily="34" charset="0"/>
                <a:ea typeface="Calibri" pitchFamily="34" charset="-122"/>
                <a:cs typeface="Calibri" pitchFamily="34" charset="-120"/>
              </a:rPr>
              <a:t>Persist agent runs, inputs, and outputs in SQLite</a:t>
            </a:r>
            <a:endParaRPr lang="en-US" sz="1200" dirty="0"/>
          </a:p>
        </p:txBody>
      </p:sp>
      <p:sp>
        <p:nvSpPr>
          <p:cNvPr id="7" name="Shape 5"/>
          <p:cNvSpPr/>
          <p:nvPr/>
        </p:nvSpPr>
        <p:spPr>
          <a:xfrm>
            <a:off x="6199632" y="1828800"/>
            <a:ext cx="5440680" cy="4297680"/>
          </a:xfrm>
          <a:prstGeom prst="roundRect">
            <a:avLst>
              <a:gd name="adj" fmla="val 1702"/>
            </a:avLst>
          </a:prstGeom>
          <a:solidFill>
            <a:srgbClr val="FFFFFF"/>
          </a:solidFill>
          <a:ln/>
          <a:effectLst>
            <a:outerShdw sx="100000" sy="100000" kx="0" ky="0" algn="bl" rotWithShape="0" blurRad="76200" dist="25400" dir="5400000">
              <a:srgbClr val="1B2340">
                <a:alpha val="16000"/>
              </a:srgbClr>
            </a:outerShdw>
          </a:effectLst>
        </p:spPr>
      </p:sp>
      <p:sp>
        <p:nvSpPr>
          <p:cNvPr id="8" name="Text 6"/>
          <p:cNvSpPr/>
          <p:nvPr/>
        </p:nvSpPr>
        <p:spPr>
          <a:xfrm>
            <a:off x="6565392" y="2057400"/>
            <a:ext cx="475488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Non-Functional</a:t>
            </a:r>
            <a:endParaRPr lang="en-US" sz="1600" dirty="0"/>
          </a:p>
        </p:txBody>
      </p:sp>
      <p:sp>
        <p:nvSpPr>
          <p:cNvPr id="9" name="Text 7"/>
          <p:cNvSpPr/>
          <p:nvPr/>
        </p:nvSpPr>
        <p:spPr>
          <a:xfrm>
            <a:off x="6565392" y="2468880"/>
            <a:ext cx="4754880" cy="347472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rgbClr val="1B2340"/>
                </a:solidFill>
                <a:latin typeface="Calibri" pitchFamily="34" charset="0"/>
                <a:ea typeface="Calibri" pitchFamily="34" charset="-122"/>
                <a:cs typeface="Calibri" pitchFamily="34" charset="-120"/>
              </a:rPr>
              <a:t>Containerized deployment via Docker</a:t>
            </a:r>
            <a:endParaRPr lang="en-US" sz="1200" dirty="0"/>
          </a:p>
          <a:p>
            <a:pPr marL="342900" indent="-342900">
              <a:spcAft>
                <a:spcPts val="1000"/>
              </a:spcAft>
              <a:buSzPct val="100000"/>
              <a:buChar char="•"/>
            </a:pPr>
            <a:r>
              <a:rPr lang="en-US" sz="1200" dirty="0">
                <a:solidFill>
                  <a:srgbClr val="1B2340"/>
                </a:solidFill>
                <a:latin typeface="Calibri" pitchFamily="34" charset="0"/>
                <a:ea typeface="Calibri" pitchFamily="34" charset="-122"/>
                <a:cs typeface="Calibri" pitchFamily="34" charset="-120"/>
              </a:rPr>
              <a:t>Typed, validated data contracts using Pydantic</a:t>
            </a:r>
            <a:endParaRPr lang="en-US" sz="1200" dirty="0"/>
          </a:p>
          <a:p>
            <a:pPr marL="342900" indent="-342900">
              <a:spcAft>
                <a:spcPts val="1000"/>
              </a:spcAft>
              <a:buSzPct val="100000"/>
              <a:buChar char="•"/>
            </a:pPr>
            <a:r>
              <a:rPr lang="en-US" sz="1200" dirty="0">
                <a:solidFill>
                  <a:srgbClr val="1B2340"/>
                </a:solidFill>
                <a:latin typeface="Calibri" pitchFamily="34" charset="0"/>
                <a:ea typeface="Calibri" pitchFamily="34" charset="-122"/>
                <a:cs typeface="Calibri" pitchFamily="34" charset="-120"/>
              </a:rPr>
              <a:t>Modular agent boundaries within Hermes</a:t>
            </a:r>
            <a:endParaRPr lang="en-US" sz="1200" dirty="0"/>
          </a:p>
          <a:p>
            <a:pPr marL="342900" indent="-342900">
              <a:spcAft>
                <a:spcPts val="1000"/>
              </a:spcAft>
              <a:buSzPct val="100000"/>
              <a:buChar char="•"/>
            </a:pPr>
            <a:r>
              <a:rPr lang="en-US" sz="1200" dirty="0">
                <a:solidFill>
                  <a:srgbClr val="1B2340"/>
                </a:solidFill>
                <a:latin typeface="Calibri" pitchFamily="34" charset="0"/>
                <a:ea typeface="Calibri" pitchFamily="34" charset="-122"/>
                <a:cs typeface="Calibri" pitchFamily="34" charset="-120"/>
              </a:rPr>
              <a:t>Structured logging and error handling per agent</a:t>
            </a:r>
            <a:endParaRPr lang="en-US" sz="1200" dirty="0"/>
          </a:p>
          <a:p>
            <a:pPr marL="342900" indent="-342900">
              <a:spcAft>
                <a:spcPts val="1000"/>
              </a:spcAft>
              <a:buSzPct val="100000"/>
              <a:buChar char="•"/>
            </a:pPr>
            <a:r>
              <a:rPr lang="en-US" sz="1200" dirty="0">
                <a:solidFill>
                  <a:srgbClr val="1B2340"/>
                </a:solidFill>
                <a:latin typeface="Calibri" pitchFamily="34" charset="0"/>
                <a:ea typeface="Calibri" pitchFamily="34" charset="-122"/>
                <a:cs typeface="Calibri" pitchFamily="34" charset="-120"/>
              </a:rPr>
              <a:t>Version-controlled source and configuration on GitHub</a:t>
            </a:r>
            <a:endParaRPr lang="en-US" sz="1200" dirty="0"/>
          </a:p>
          <a:p>
            <a:pPr marL="342900" indent="-342900">
              <a:spcAft>
                <a:spcPts val="1000"/>
              </a:spcAft>
              <a:buSzPct val="100000"/>
              <a:buChar char="•"/>
            </a:pPr>
            <a:r>
              <a:rPr lang="en-US" sz="1200" dirty="0">
                <a:solidFill>
                  <a:srgbClr val="1B2340"/>
                </a:solidFill>
                <a:latin typeface="Calibri" pitchFamily="34" charset="0"/>
                <a:ea typeface="Calibri" pitchFamily="34" charset="-122"/>
                <a:cs typeface="Calibri" pitchFamily="34" charset="-120"/>
              </a:rPr>
              <a:t>Configurable via environment variables, not hard-coded</a:t>
            </a:r>
            <a:endParaRPr lang="en-US" sz="1200" dirty="0"/>
          </a:p>
        </p:txBody>
      </p:sp>
      <p:sp>
        <p:nvSpPr>
          <p:cNvPr id="10" name="Text 8"/>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CrowdWisdomTrading  |  Hermes Marketing Agents</a:t>
            </a:r>
            <a:endParaRPr lang="en-US" sz="900" dirty="0"/>
          </a:p>
        </p:txBody>
      </p:sp>
      <p:sp>
        <p:nvSpPr>
          <p:cNvPr id="11" name="Text 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Technology Stack</a:t>
            </a:r>
            <a:endParaRPr lang="en-US" sz="3200" dirty="0"/>
          </a:p>
        </p:txBody>
      </p:sp>
      <p:sp>
        <p:nvSpPr>
          <p:cNvPr id="3" name="Text 1"/>
          <p:cNvSpPr/>
          <p:nvPr/>
        </p:nvSpPr>
        <p:spPr>
          <a:xfrm>
            <a:off x="548640" y="1051560"/>
            <a:ext cx="9144000" cy="365760"/>
          </a:xfrm>
          <a:prstGeom prst="rect">
            <a:avLst/>
          </a:prstGeom>
          <a:noFill/>
          <a:ln/>
        </p:spPr>
        <p:txBody>
          <a:bodyPr wrap="square" lIns="0" tIns="0" rIns="0" bIns="0" rtlCol="0" anchor="ctr"/>
          <a:lstStyle/>
          <a:p>
            <a:pPr indent="0" marL="0">
              <a:buNone/>
            </a:pPr>
            <a:r>
              <a:rPr lang="en-US" sz="1300" i="1" dirty="0">
                <a:solidFill>
                  <a:srgbClr val="5A6B8C"/>
                </a:solidFill>
                <a:latin typeface="Calibri" pitchFamily="34" charset="0"/>
                <a:ea typeface="Calibri" pitchFamily="34" charset="-122"/>
                <a:cs typeface="Calibri" pitchFamily="34" charset="-120"/>
              </a:rPr>
              <a:t>Core languages, frameworks, and services</a:t>
            </a:r>
            <a:endParaRPr lang="en-US" sz="1300" dirty="0"/>
          </a:p>
        </p:txBody>
      </p:sp>
      <p:sp>
        <p:nvSpPr>
          <p:cNvPr id="4" name="Shape 2"/>
          <p:cNvSpPr/>
          <p:nvPr/>
        </p:nvSpPr>
        <p:spPr>
          <a:xfrm>
            <a:off x="486004" y="1965960"/>
            <a:ext cx="2148840" cy="1600200"/>
          </a:xfrm>
          <a:prstGeom prst="roundRect">
            <a:avLst>
              <a:gd name="adj" fmla="val 4571"/>
            </a:avLst>
          </a:prstGeom>
          <a:solidFill>
            <a:srgbClr val="F7F9FC"/>
          </a:solidFill>
          <a:ln w="12700">
            <a:solidFill>
              <a:srgbClr val="CADCFC"/>
            </a:solidFill>
            <a:prstDash val="solid"/>
          </a:ln>
        </p:spPr>
      </p:sp>
      <p:sp>
        <p:nvSpPr>
          <p:cNvPr id="5" name="Shape 3"/>
          <p:cNvSpPr/>
          <p:nvPr/>
        </p:nvSpPr>
        <p:spPr>
          <a:xfrm>
            <a:off x="1240384" y="2167128"/>
            <a:ext cx="640080" cy="640080"/>
          </a:xfrm>
          <a:prstGeom prst="ellipse">
            <a:avLst/>
          </a:prstGeom>
          <a:solidFill>
            <a:srgbClr val="1E2761"/>
          </a:solidFill>
          <a:ln/>
        </p:spPr>
      </p:sp>
      <p:sp>
        <p:nvSpPr>
          <p:cNvPr id="6" name="Text 4"/>
          <p:cNvSpPr/>
          <p:nvPr/>
        </p:nvSpPr>
        <p:spPr>
          <a:xfrm>
            <a:off x="1240384" y="2167128"/>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PY</a:t>
            </a:r>
            <a:endParaRPr lang="en-US" sz="1400" dirty="0"/>
          </a:p>
        </p:txBody>
      </p:sp>
      <p:sp>
        <p:nvSpPr>
          <p:cNvPr id="7" name="Text 5"/>
          <p:cNvSpPr/>
          <p:nvPr/>
        </p:nvSpPr>
        <p:spPr>
          <a:xfrm>
            <a:off x="577444" y="2880360"/>
            <a:ext cx="1965960" cy="32004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Python</a:t>
            </a:r>
            <a:endParaRPr lang="en-US" sz="1250" dirty="0"/>
          </a:p>
        </p:txBody>
      </p:sp>
      <p:sp>
        <p:nvSpPr>
          <p:cNvPr id="8" name="Text 6"/>
          <p:cNvSpPr/>
          <p:nvPr/>
        </p:nvSpPr>
        <p:spPr>
          <a:xfrm>
            <a:off x="577444" y="3172968"/>
            <a:ext cx="1965960" cy="320040"/>
          </a:xfrm>
          <a:prstGeom prst="rect">
            <a:avLst/>
          </a:prstGeom>
          <a:noFill/>
          <a:ln/>
        </p:spPr>
        <p:txBody>
          <a:bodyPr wrap="square" lIns="0" tIns="0" rIns="0" bIns="0" rtlCol="0" anchor="ctr"/>
          <a:lstStyle/>
          <a:p>
            <a:pPr algn="ctr" indent="0" marL="0">
              <a:buNone/>
            </a:pPr>
            <a:r>
              <a:rPr lang="en-US" sz="950" dirty="0">
                <a:solidFill>
                  <a:srgbClr val="5A6B8C"/>
                </a:solidFill>
                <a:latin typeface="Calibri" pitchFamily="34" charset="0"/>
                <a:ea typeface="Calibri" pitchFamily="34" charset="-122"/>
                <a:cs typeface="Calibri" pitchFamily="34" charset="-120"/>
              </a:rPr>
              <a:t>Core language</a:t>
            </a:r>
            <a:endParaRPr lang="en-US" sz="950" dirty="0"/>
          </a:p>
        </p:txBody>
      </p:sp>
      <p:sp>
        <p:nvSpPr>
          <p:cNvPr id="9" name="Shape 7"/>
          <p:cNvSpPr/>
          <p:nvPr/>
        </p:nvSpPr>
        <p:spPr>
          <a:xfrm>
            <a:off x="2753716" y="1965960"/>
            <a:ext cx="2148840" cy="1600200"/>
          </a:xfrm>
          <a:prstGeom prst="roundRect">
            <a:avLst>
              <a:gd name="adj" fmla="val 4571"/>
            </a:avLst>
          </a:prstGeom>
          <a:solidFill>
            <a:srgbClr val="F7F9FC"/>
          </a:solidFill>
          <a:ln w="12700">
            <a:solidFill>
              <a:srgbClr val="CADCFC"/>
            </a:solidFill>
            <a:prstDash val="solid"/>
          </a:ln>
        </p:spPr>
      </p:sp>
      <p:sp>
        <p:nvSpPr>
          <p:cNvPr id="10" name="Shape 8"/>
          <p:cNvSpPr/>
          <p:nvPr/>
        </p:nvSpPr>
        <p:spPr>
          <a:xfrm>
            <a:off x="3508096" y="2167128"/>
            <a:ext cx="640080" cy="640080"/>
          </a:xfrm>
          <a:prstGeom prst="ellipse">
            <a:avLst/>
          </a:prstGeom>
          <a:solidFill>
            <a:srgbClr val="1E2761"/>
          </a:solidFill>
          <a:ln/>
        </p:spPr>
      </p:sp>
      <p:sp>
        <p:nvSpPr>
          <p:cNvPr id="11" name="Text 9"/>
          <p:cNvSpPr/>
          <p:nvPr/>
        </p:nvSpPr>
        <p:spPr>
          <a:xfrm>
            <a:off x="3508096" y="2167128"/>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HE</a:t>
            </a:r>
            <a:endParaRPr lang="en-US" sz="1400" dirty="0"/>
          </a:p>
        </p:txBody>
      </p:sp>
      <p:sp>
        <p:nvSpPr>
          <p:cNvPr id="12" name="Text 10"/>
          <p:cNvSpPr/>
          <p:nvPr/>
        </p:nvSpPr>
        <p:spPr>
          <a:xfrm>
            <a:off x="2845156" y="2880360"/>
            <a:ext cx="1965960" cy="32004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Hermes</a:t>
            </a:r>
            <a:endParaRPr lang="en-US" sz="1250" dirty="0"/>
          </a:p>
        </p:txBody>
      </p:sp>
      <p:sp>
        <p:nvSpPr>
          <p:cNvPr id="13" name="Text 11"/>
          <p:cNvSpPr/>
          <p:nvPr/>
        </p:nvSpPr>
        <p:spPr>
          <a:xfrm>
            <a:off x="2845156" y="3172968"/>
            <a:ext cx="1965960" cy="320040"/>
          </a:xfrm>
          <a:prstGeom prst="rect">
            <a:avLst/>
          </a:prstGeom>
          <a:noFill/>
          <a:ln/>
        </p:spPr>
        <p:txBody>
          <a:bodyPr wrap="square" lIns="0" tIns="0" rIns="0" bIns="0" rtlCol="0" anchor="ctr"/>
          <a:lstStyle/>
          <a:p>
            <a:pPr algn="ctr" indent="0" marL="0">
              <a:buNone/>
            </a:pPr>
            <a:r>
              <a:rPr lang="en-US" sz="950" dirty="0">
                <a:solidFill>
                  <a:srgbClr val="5A6B8C"/>
                </a:solidFill>
                <a:latin typeface="Calibri" pitchFamily="34" charset="0"/>
                <a:ea typeface="Calibri" pitchFamily="34" charset="-122"/>
                <a:cs typeface="Calibri" pitchFamily="34" charset="-120"/>
              </a:rPr>
              <a:t>Agent framework</a:t>
            </a:r>
            <a:endParaRPr lang="en-US" sz="950" dirty="0"/>
          </a:p>
        </p:txBody>
      </p:sp>
      <p:sp>
        <p:nvSpPr>
          <p:cNvPr id="14" name="Shape 12"/>
          <p:cNvSpPr/>
          <p:nvPr/>
        </p:nvSpPr>
        <p:spPr>
          <a:xfrm>
            <a:off x="5021428" y="1965960"/>
            <a:ext cx="2148840" cy="1600200"/>
          </a:xfrm>
          <a:prstGeom prst="roundRect">
            <a:avLst>
              <a:gd name="adj" fmla="val 4571"/>
            </a:avLst>
          </a:prstGeom>
          <a:solidFill>
            <a:srgbClr val="F7F9FC"/>
          </a:solidFill>
          <a:ln w="12700">
            <a:solidFill>
              <a:srgbClr val="CADCFC"/>
            </a:solidFill>
            <a:prstDash val="solid"/>
          </a:ln>
        </p:spPr>
      </p:sp>
      <p:sp>
        <p:nvSpPr>
          <p:cNvPr id="15" name="Shape 13"/>
          <p:cNvSpPr/>
          <p:nvPr/>
        </p:nvSpPr>
        <p:spPr>
          <a:xfrm>
            <a:off x="5775808" y="2167128"/>
            <a:ext cx="640080" cy="640080"/>
          </a:xfrm>
          <a:prstGeom prst="ellipse">
            <a:avLst/>
          </a:prstGeom>
          <a:solidFill>
            <a:srgbClr val="1E2761"/>
          </a:solidFill>
          <a:ln/>
        </p:spPr>
      </p:sp>
      <p:sp>
        <p:nvSpPr>
          <p:cNvPr id="16" name="Text 14"/>
          <p:cNvSpPr/>
          <p:nvPr/>
        </p:nvSpPr>
        <p:spPr>
          <a:xfrm>
            <a:off x="5775808" y="2167128"/>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OP</a:t>
            </a:r>
            <a:endParaRPr lang="en-US" sz="1400" dirty="0"/>
          </a:p>
        </p:txBody>
      </p:sp>
      <p:sp>
        <p:nvSpPr>
          <p:cNvPr id="17" name="Text 15"/>
          <p:cNvSpPr/>
          <p:nvPr/>
        </p:nvSpPr>
        <p:spPr>
          <a:xfrm>
            <a:off x="5112868" y="2880360"/>
            <a:ext cx="1965960" cy="32004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OpenRouter</a:t>
            </a:r>
            <a:endParaRPr lang="en-US" sz="1250" dirty="0"/>
          </a:p>
        </p:txBody>
      </p:sp>
      <p:sp>
        <p:nvSpPr>
          <p:cNvPr id="18" name="Text 16"/>
          <p:cNvSpPr/>
          <p:nvPr/>
        </p:nvSpPr>
        <p:spPr>
          <a:xfrm>
            <a:off x="5112868" y="3172968"/>
            <a:ext cx="1965960" cy="320040"/>
          </a:xfrm>
          <a:prstGeom prst="rect">
            <a:avLst/>
          </a:prstGeom>
          <a:noFill/>
          <a:ln/>
        </p:spPr>
        <p:txBody>
          <a:bodyPr wrap="square" lIns="0" tIns="0" rIns="0" bIns="0" rtlCol="0" anchor="ctr"/>
          <a:lstStyle/>
          <a:p>
            <a:pPr algn="ctr" indent="0" marL="0">
              <a:buNone/>
            </a:pPr>
            <a:r>
              <a:rPr lang="en-US" sz="950" dirty="0">
                <a:solidFill>
                  <a:srgbClr val="5A6B8C"/>
                </a:solidFill>
                <a:latin typeface="Calibri" pitchFamily="34" charset="0"/>
                <a:ea typeface="Calibri" pitchFamily="34" charset="-122"/>
                <a:cs typeface="Calibri" pitchFamily="34" charset="-120"/>
              </a:rPr>
              <a:t>LLM routing</a:t>
            </a:r>
            <a:endParaRPr lang="en-US" sz="950" dirty="0"/>
          </a:p>
        </p:txBody>
      </p:sp>
      <p:sp>
        <p:nvSpPr>
          <p:cNvPr id="19" name="Shape 17"/>
          <p:cNvSpPr/>
          <p:nvPr/>
        </p:nvSpPr>
        <p:spPr>
          <a:xfrm>
            <a:off x="7289140" y="1965960"/>
            <a:ext cx="2148840" cy="1600200"/>
          </a:xfrm>
          <a:prstGeom prst="roundRect">
            <a:avLst>
              <a:gd name="adj" fmla="val 4571"/>
            </a:avLst>
          </a:prstGeom>
          <a:solidFill>
            <a:srgbClr val="F7F9FC"/>
          </a:solidFill>
          <a:ln w="12700">
            <a:solidFill>
              <a:srgbClr val="CADCFC"/>
            </a:solidFill>
            <a:prstDash val="solid"/>
          </a:ln>
        </p:spPr>
      </p:sp>
      <p:sp>
        <p:nvSpPr>
          <p:cNvPr id="20" name="Shape 18"/>
          <p:cNvSpPr/>
          <p:nvPr/>
        </p:nvSpPr>
        <p:spPr>
          <a:xfrm>
            <a:off x="8043520" y="2167128"/>
            <a:ext cx="640080" cy="640080"/>
          </a:xfrm>
          <a:prstGeom prst="ellipse">
            <a:avLst/>
          </a:prstGeom>
          <a:solidFill>
            <a:srgbClr val="1E2761"/>
          </a:solidFill>
          <a:ln/>
        </p:spPr>
      </p:sp>
      <p:sp>
        <p:nvSpPr>
          <p:cNvPr id="21" name="Text 19"/>
          <p:cNvSpPr/>
          <p:nvPr/>
        </p:nvSpPr>
        <p:spPr>
          <a:xfrm>
            <a:off x="8043520" y="2167128"/>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AP</a:t>
            </a:r>
            <a:endParaRPr lang="en-US" sz="1400" dirty="0"/>
          </a:p>
        </p:txBody>
      </p:sp>
      <p:sp>
        <p:nvSpPr>
          <p:cNvPr id="22" name="Text 20"/>
          <p:cNvSpPr/>
          <p:nvPr/>
        </p:nvSpPr>
        <p:spPr>
          <a:xfrm>
            <a:off x="7380580" y="2880360"/>
            <a:ext cx="1965960" cy="32004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Apify</a:t>
            </a:r>
            <a:endParaRPr lang="en-US" sz="1250" dirty="0"/>
          </a:p>
        </p:txBody>
      </p:sp>
      <p:sp>
        <p:nvSpPr>
          <p:cNvPr id="23" name="Text 21"/>
          <p:cNvSpPr/>
          <p:nvPr/>
        </p:nvSpPr>
        <p:spPr>
          <a:xfrm>
            <a:off x="7380580" y="3172968"/>
            <a:ext cx="1965960" cy="320040"/>
          </a:xfrm>
          <a:prstGeom prst="rect">
            <a:avLst/>
          </a:prstGeom>
          <a:noFill/>
          <a:ln/>
        </p:spPr>
        <p:txBody>
          <a:bodyPr wrap="square" lIns="0" tIns="0" rIns="0" bIns="0" rtlCol="0" anchor="ctr"/>
          <a:lstStyle/>
          <a:p>
            <a:pPr algn="ctr" indent="0" marL="0">
              <a:buNone/>
            </a:pPr>
            <a:r>
              <a:rPr lang="en-US" sz="950" dirty="0">
                <a:solidFill>
                  <a:srgbClr val="5A6B8C"/>
                </a:solidFill>
                <a:latin typeface="Calibri" pitchFamily="34" charset="0"/>
                <a:ea typeface="Calibri" pitchFamily="34" charset="-122"/>
                <a:cs typeface="Calibri" pitchFamily="34" charset="-120"/>
              </a:rPr>
              <a:t>Ad scraping</a:t>
            </a:r>
            <a:endParaRPr lang="en-US" sz="950" dirty="0"/>
          </a:p>
        </p:txBody>
      </p:sp>
      <p:sp>
        <p:nvSpPr>
          <p:cNvPr id="24" name="Shape 22"/>
          <p:cNvSpPr/>
          <p:nvPr/>
        </p:nvSpPr>
        <p:spPr>
          <a:xfrm>
            <a:off x="9556852" y="1965960"/>
            <a:ext cx="2148840" cy="1600200"/>
          </a:xfrm>
          <a:prstGeom prst="roundRect">
            <a:avLst>
              <a:gd name="adj" fmla="val 4571"/>
            </a:avLst>
          </a:prstGeom>
          <a:solidFill>
            <a:srgbClr val="F7F9FC"/>
          </a:solidFill>
          <a:ln w="12700">
            <a:solidFill>
              <a:srgbClr val="CADCFC"/>
            </a:solidFill>
            <a:prstDash val="solid"/>
          </a:ln>
        </p:spPr>
      </p:sp>
      <p:sp>
        <p:nvSpPr>
          <p:cNvPr id="25" name="Shape 23"/>
          <p:cNvSpPr/>
          <p:nvPr/>
        </p:nvSpPr>
        <p:spPr>
          <a:xfrm>
            <a:off x="10311232" y="2167128"/>
            <a:ext cx="640080" cy="640080"/>
          </a:xfrm>
          <a:prstGeom prst="ellipse">
            <a:avLst/>
          </a:prstGeom>
          <a:solidFill>
            <a:srgbClr val="1E2761"/>
          </a:solidFill>
          <a:ln/>
        </p:spPr>
      </p:sp>
      <p:sp>
        <p:nvSpPr>
          <p:cNvPr id="26" name="Text 24"/>
          <p:cNvSpPr/>
          <p:nvPr/>
        </p:nvSpPr>
        <p:spPr>
          <a:xfrm>
            <a:off x="10311232" y="2167128"/>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a:t>
            </a:r>
            <a:endParaRPr lang="en-US" sz="1400" dirty="0"/>
          </a:p>
        </p:txBody>
      </p:sp>
      <p:sp>
        <p:nvSpPr>
          <p:cNvPr id="27" name="Text 25"/>
          <p:cNvSpPr/>
          <p:nvPr/>
        </p:nvSpPr>
        <p:spPr>
          <a:xfrm>
            <a:off x="9648292" y="2880360"/>
            <a:ext cx="1965960" cy="32004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Telegram</a:t>
            </a:r>
            <a:endParaRPr lang="en-US" sz="1250" dirty="0"/>
          </a:p>
        </p:txBody>
      </p:sp>
      <p:sp>
        <p:nvSpPr>
          <p:cNvPr id="28" name="Text 26"/>
          <p:cNvSpPr/>
          <p:nvPr/>
        </p:nvSpPr>
        <p:spPr>
          <a:xfrm>
            <a:off x="9648292" y="3172968"/>
            <a:ext cx="1965960" cy="320040"/>
          </a:xfrm>
          <a:prstGeom prst="rect">
            <a:avLst/>
          </a:prstGeom>
          <a:noFill/>
          <a:ln/>
        </p:spPr>
        <p:txBody>
          <a:bodyPr wrap="square" lIns="0" tIns="0" rIns="0" bIns="0" rtlCol="0" anchor="ctr"/>
          <a:lstStyle/>
          <a:p>
            <a:pPr algn="ctr" indent="0" marL="0">
              <a:buNone/>
            </a:pPr>
            <a:r>
              <a:rPr lang="en-US" sz="950" dirty="0">
                <a:solidFill>
                  <a:srgbClr val="5A6B8C"/>
                </a:solidFill>
                <a:latin typeface="Calibri" pitchFamily="34" charset="0"/>
                <a:ea typeface="Calibri" pitchFamily="34" charset="-122"/>
                <a:cs typeface="Calibri" pitchFamily="34" charset="-120"/>
              </a:rPr>
              <a:t>Bot interface</a:t>
            </a:r>
            <a:endParaRPr lang="en-US" sz="950" dirty="0"/>
          </a:p>
        </p:txBody>
      </p:sp>
      <p:sp>
        <p:nvSpPr>
          <p:cNvPr id="29" name="Shape 27"/>
          <p:cNvSpPr/>
          <p:nvPr/>
        </p:nvSpPr>
        <p:spPr>
          <a:xfrm>
            <a:off x="486004" y="3794760"/>
            <a:ext cx="2148840" cy="1600200"/>
          </a:xfrm>
          <a:prstGeom prst="roundRect">
            <a:avLst>
              <a:gd name="adj" fmla="val 4571"/>
            </a:avLst>
          </a:prstGeom>
          <a:solidFill>
            <a:srgbClr val="F7F9FC"/>
          </a:solidFill>
          <a:ln w="12700">
            <a:solidFill>
              <a:srgbClr val="CADCFC"/>
            </a:solidFill>
            <a:prstDash val="solid"/>
          </a:ln>
        </p:spPr>
      </p:sp>
      <p:sp>
        <p:nvSpPr>
          <p:cNvPr id="30" name="Shape 28"/>
          <p:cNvSpPr/>
          <p:nvPr/>
        </p:nvSpPr>
        <p:spPr>
          <a:xfrm>
            <a:off x="1240384" y="3995928"/>
            <a:ext cx="640080" cy="640080"/>
          </a:xfrm>
          <a:prstGeom prst="ellipse">
            <a:avLst/>
          </a:prstGeom>
          <a:solidFill>
            <a:srgbClr val="1E2761"/>
          </a:solidFill>
          <a:ln/>
        </p:spPr>
      </p:sp>
      <p:sp>
        <p:nvSpPr>
          <p:cNvPr id="31" name="Text 29"/>
          <p:cNvSpPr/>
          <p:nvPr/>
        </p:nvSpPr>
        <p:spPr>
          <a:xfrm>
            <a:off x="1240384" y="3995928"/>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OP</a:t>
            </a:r>
            <a:endParaRPr lang="en-US" sz="1400" dirty="0"/>
          </a:p>
        </p:txBody>
      </p:sp>
      <p:sp>
        <p:nvSpPr>
          <p:cNvPr id="32" name="Text 30"/>
          <p:cNvSpPr/>
          <p:nvPr/>
        </p:nvSpPr>
        <p:spPr>
          <a:xfrm>
            <a:off x="577444" y="4709160"/>
            <a:ext cx="1965960" cy="32004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OpenMontage</a:t>
            </a:r>
            <a:endParaRPr lang="en-US" sz="1250" dirty="0"/>
          </a:p>
        </p:txBody>
      </p:sp>
      <p:sp>
        <p:nvSpPr>
          <p:cNvPr id="33" name="Text 31"/>
          <p:cNvSpPr/>
          <p:nvPr/>
        </p:nvSpPr>
        <p:spPr>
          <a:xfrm>
            <a:off x="577444" y="5001768"/>
            <a:ext cx="1965960" cy="320040"/>
          </a:xfrm>
          <a:prstGeom prst="rect">
            <a:avLst/>
          </a:prstGeom>
          <a:noFill/>
          <a:ln/>
        </p:spPr>
        <p:txBody>
          <a:bodyPr wrap="square" lIns="0" tIns="0" rIns="0" bIns="0" rtlCol="0" anchor="ctr"/>
          <a:lstStyle/>
          <a:p>
            <a:pPr algn="ctr" indent="0" marL="0">
              <a:buNone/>
            </a:pPr>
            <a:r>
              <a:rPr lang="en-US" sz="950" dirty="0">
                <a:solidFill>
                  <a:srgbClr val="5A6B8C"/>
                </a:solidFill>
                <a:latin typeface="Calibri" pitchFamily="34" charset="0"/>
                <a:ea typeface="Calibri" pitchFamily="34" charset="-122"/>
                <a:cs typeface="Calibri" pitchFamily="34" charset="-120"/>
              </a:rPr>
              <a:t>Video generation</a:t>
            </a:r>
            <a:endParaRPr lang="en-US" sz="950" dirty="0"/>
          </a:p>
        </p:txBody>
      </p:sp>
      <p:sp>
        <p:nvSpPr>
          <p:cNvPr id="34" name="Shape 32"/>
          <p:cNvSpPr/>
          <p:nvPr/>
        </p:nvSpPr>
        <p:spPr>
          <a:xfrm>
            <a:off x="2753716" y="3794760"/>
            <a:ext cx="2148840" cy="1600200"/>
          </a:xfrm>
          <a:prstGeom prst="roundRect">
            <a:avLst>
              <a:gd name="adj" fmla="val 4571"/>
            </a:avLst>
          </a:prstGeom>
          <a:solidFill>
            <a:srgbClr val="F7F9FC"/>
          </a:solidFill>
          <a:ln w="12700">
            <a:solidFill>
              <a:srgbClr val="CADCFC"/>
            </a:solidFill>
            <a:prstDash val="solid"/>
          </a:ln>
        </p:spPr>
      </p:sp>
      <p:sp>
        <p:nvSpPr>
          <p:cNvPr id="35" name="Shape 33"/>
          <p:cNvSpPr/>
          <p:nvPr/>
        </p:nvSpPr>
        <p:spPr>
          <a:xfrm>
            <a:off x="3508096" y="3995928"/>
            <a:ext cx="640080" cy="640080"/>
          </a:xfrm>
          <a:prstGeom prst="ellipse">
            <a:avLst/>
          </a:prstGeom>
          <a:solidFill>
            <a:srgbClr val="1E2761"/>
          </a:solidFill>
          <a:ln/>
        </p:spPr>
      </p:sp>
      <p:sp>
        <p:nvSpPr>
          <p:cNvPr id="36" name="Text 34"/>
          <p:cNvSpPr/>
          <p:nvPr/>
        </p:nvSpPr>
        <p:spPr>
          <a:xfrm>
            <a:off x="3508096" y="3995928"/>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DO</a:t>
            </a:r>
            <a:endParaRPr lang="en-US" sz="1400" dirty="0"/>
          </a:p>
        </p:txBody>
      </p:sp>
      <p:sp>
        <p:nvSpPr>
          <p:cNvPr id="37" name="Text 35"/>
          <p:cNvSpPr/>
          <p:nvPr/>
        </p:nvSpPr>
        <p:spPr>
          <a:xfrm>
            <a:off x="2845156" y="4709160"/>
            <a:ext cx="1965960" cy="32004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Docker</a:t>
            </a:r>
            <a:endParaRPr lang="en-US" sz="1250" dirty="0"/>
          </a:p>
        </p:txBody>
      </p:sp>
      <p:sp>
        <p:nvSpPr>
          <p:cNvPr id="38" name="Text 36"/>
          <p:cNvSpPr/>
          <p:nvPr/>
        </p:nvSpPr>
        <p:spPr>
          <a:xfrm>
            <a:off x="2845156" y="5001768"/>
            <a:ext cx="1965960" cy="320040"/>
          </a:xfrm>
          <a:prstGeom prst="rect">
            <a:avLst/>
          </a:prstGeom>
          <a:noFill/>
          <a:ln/>
        </p:spPr>
        <p:txBody>
          <a:bodyPr wrap="square" lIns="0" tIns="0" rIns="0" bIns="0" rtlCol="0" anchor="ctr"/>
          <a:lstStyle/>
          <a:p>
            <a:pPr algn="ctr" indent="0" marL="0">
              <a:buNone/>
            </a:pPr>
            <a:r>
              <a:rPr lang="en-US" sz="950" dirty="0">
                <a:solidFill>
                  <a:srgbClr val="5A6B8C"/>
                </a:solidFill>
                <a:latin typeface="Calibri" pitchFamily="34" charset="0"/>
                <a:ea typeface="Calibri" pitchFamily="34" charset="-122"/>
                <a:cs typeface="Calibri" pitchFamily="34" charset="-120"/>
              </a:rPr>
              <a:t>Containerization</a:t>
            </a:r>
            <a:endParaRPr lang="en-US" sz="950" dirty="0"/>
          </a:p>
        </p:txBody>
      </p:sp>
      <p:sp>
        <p:nvSpPr>
          <p:cNvPr id="39" name="Shape 37"/>
          <p:cNvSpPr/>
          <p:nvPr/>
        </p:nvSpPr>
        <p:spPr>
          <a:xfrm>
            <a:off x="5021428" y="3794760"/>
            <a:ext cx="2148840" cy="1600200"/>
          </a:xfrm>
          <a:prstGeom prst="roundRect">
            <a:avLst>
              <a:gd name="adj" fmla="val 4571"/>
            </a:avLst>
          </a:prstGeom>
          <a:solidFill>
            <a:srgbClr val="F7F9FC"/>
          </a:solidFill>
          <a:ln w="12700">
            <a:solidFill>
              <a:srgbClr val="CADCFC"/>
            </a:solidFill>
            <a:prstDash val="solid"/>
          </a:ln>
        </p:spPr>
      </p:sp>
      <p:sp>
        <p:nvSpPr>
          <p:cNvPr id="40" name="Shape 38"/>
          <p:cNvSpPr/>
          <p:nvPr/>
        </p:nvSpPr>
        <p:spPr>
          <a:xfrm>
            <a:off x="5775808" y="3995928"/>
            <a:ext cx="640080" cy="640080"/>
          </a:xfrm>
          <a:prstGeom prst="ellipse">
            <a:avLst/>
          </a:prstGeom>
          <a:solidFill>
            <a:srgbClr val="1E2761"/>
          </a:solidFill>
          <a:ln/>
        </p:spPr>
      </p:sp>
      <p:sp>
        <p:nvSpPr>
          <p:cNvPr id="41" name="Text 39"/>
          <p:cNvSpPr/>
          <p:nvPr/>
        </p:nvSpPr>
        <p:spPr>
          <a:xfrm>
            <a:off x="5775808" y="3995928"/>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SQ</a:t>
            </a:r>
            <a:endParaRPr lang="en-US" sz="1400" dirty="0"/>
          </a:p>
        </p:txBody>
      </p:sp>
      <p:sp>
        <p:nvSpPr>
          <p:cNvPr id="42" name="Text 40"/>
          <p:cNvSpPr/>
          <p:nvPr/>
        </p:nvSpPr>
        <p:spPr>
          <a:xfrm>
            <a:off x="5112868" y="4709160"/>
            <a:ext cx="1965960" cy="32004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SQLite</a:t>
            </a:r>
            <a:endParaRPr lang="en-US" sz="1250" dirty="0"/>
          </a:p>
        </p:txBody>
      </p:sp>
      <p:sp>
        <p:nvSpPr>
          <p:cNvPr id="43" name="Text 41"/>
          <p:cNvSpPr/>
          <p:nvPr/>
        </p:nvSpPr>
        <p:spPr>
          <a:xfrm>
            <a:off x="5112868" y="5001768"/>
            <a:ext cx="1965960" cy="320040"/>
          </a:xfrm>
          <a:prstGeom prst="rect">
            <a:avLst/>
          </a:prstGeom>
          <a:noFill/>
          <a:ln/>
        </p:spPr>
        <p:txBody>
          <a:bodyPr wrap="square" lIns="0" tIns="0" rIns="0" bIns="0" rtlCol="0" anchor="ctr"/>
          <a:lstStyle/>
          <a:p>
            <a:pPr algn="ctr" indent="0" marL="0">
              <a:buNone/>
            </a:pPr>
            <a:r>
              <a:rPr lang="en-US" sz="950" dirty="0">
                <a:solidFill>
                  <a:srgbClr val="5A6B8C"/>
                </a:solidFill>
                <a:latin typeface="Calibri" pitchFamily="34" charset="0"/>
                <a:ea typeface="Calibri" pitchFamily="34" charset="-122"/>
                <a:cs typeface="Calibri" pitchFamily="34" charset="-120"/>
              </a:rPr>
              <a:t>Persistence</a:t>
            </a:r>
            <a:endParaRPr lang="en-US" sz="950" dirty="0"/>
          </a:p>
        </p:txBody>
      </p:sp>
      <p:sp>
        <p:nvSpPr>
          <p:cNvPr id="44" name="Shape 42"/>
          <p:cNvSpPr/>
          <p:nvPr/>
        </p:nvSpPr>
        <p:spPr>
          <a:xfrm>
            <a:off x="7289140" y="3794760"/>
            <a:ext cx="2148840" cy="1600200"/>
          </a:xfrm>
          <a:prstGeom prst="roundRect">
            <a:avLst>
              <a:gd name="adj" fmla="val 4571"/>
            </a:avLst>
          </a:prstGeom>
          <a:solidFill>
            <a:srgbClr val="F7F9FC"/>
          </a:solidFill>
          <a:ln w="12700">
            <a:solidFill>
              <a:srgbClr val="CADCFC"/>
            </a:solidFill>
            <a:prstDash val="solid"/>
          </a:ln>
        </p:spPr>
      </p:sp>
      <p:sp>
        <p:nvSpPr>
          <p:cNvPr id="45" name="Shape 43"/>
          <p:cNvSpPr/>
          <p:nvPr/>
        </p:nvSpPr>
        <p:spPr>
          <a:xfrm>
            <a:off x="8043520" y="3995928"/>
            <a:ext cx="640080" cy="640080"/>
          </a:xfrm>
          <a:prstGeom prst="ellipse">
            <a:avLst/>
          </a:prstGeom>
          <a:solidFill>
            <a:srgbClr val="1E2761"/>
          </a:solidFill>
          <a:ln/>
        </p:spPr>
      </p:sp>
      <p:sp>
        <p:nvSpPr>
          <p:cNvPr id="46" name="Text 44"/>
          <p:cNvSpPr/>
          <p:nvPr/>
        </p:nvSpPr>
        <p:spPr>
          <a:xfrm>
            <a:off x="8043520" y="3995928"/>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PY</a:t>
            </a:r>
            <a:endParaRPr lang="en-US" sz="1400" dirty="0"/>
          </a:p>
        </p:txBody>
      </p:sp>
      <p:sp>
        <p:nvSpPr>
          <p:cNvPr id="47" name="Text 45"/>
          <p:cNvSpPr/>
          <p:nvPr/>
        </p:nvSpPr>
        <p:spPr>
          <a:xfrm>
            <a:off x="7380580" y="4709160"/>
            <a:ext cx="1965960" cy="32004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Pydantic</a:t>
            </a:r>
            <a:endParaRPr lang="en-US" sz="1250" dirty="0"/>
          </a:p>
        </p:txBody>
      </p:sp>
      <p:sp>
        <p:nvSpPr>
          <p:cNvPr id="48" name="Text 46"/>
          <p:cNvSpPr/>
          <p:nvPr/>
        </p:nvSpPr>
        <p:spPr>
          <a:xfrm>
            <a:off x="7380580" y="5001768"/>
            <a:ext cx="1965960" cy="320040"/>
          </a:xfrm>
          <a:prstGeom prst="rect">
            <a:avLst/>
          </a:prstGeom>
          <a:noFill/>
          <a:ln/>
        </p:spPr>
        <p:txBody>
          <a:bodyPr wrap="square" lIns="0" tIns="0" rIns="0" bIns="0" rtlCol="0" anchor="ctr"/>
          <a:lstStyle/>
          <a:p>
            <a:pPr algn="ctr" indent="0" marL="0">
              <a:buNone/>
            </a:pPr>
            <a:r>
              <a:rPr lang="en-US" sz="950" dirty="0">
                <a:solidFill>
                  <a:srgbClr val="5A6B8C"/>
                </a:solidFill>
                <a:latin typeface="Calibri" pitchFamily="34" charset="0"/>
                <a:ea typeface="Calibri" pitchFamily="34" charset="-122"/>
                <a:cs typeface="Calibri" pitchFamily="34" charset="-120"/>
              </a:rPr>
              <a:t>Data validation</a:t>
            </a:r>
            <a:endParaRPr lang="en-US" sz="950" dirty="0"/>
          </a:p>
        </p:txBody>
      </p:sp>
      <p:sp>
        <p:nvSpPr>
          <p:cNvPr id="49" name="Shape 47"/>
          <p:cNvSpPr/>
          <p:nvPr/>
        </p:nvSpPr>
        <p:spPr>
          <a:xfrm>
            <a:off x="9556852" y="3794760"/>
            <a:ext cx="2148840" cy="1600200"/>
          </a:xfrm>
          <a:prstGeom prst="roundRect">
            <a:avLst>
              <a:gd name="adj" fmla="val 4571"/>
            </a:avLst>
          </a:prstGeom>
          <a:solidFill>
            <a:srgbClr val="F7F9FC"/>
          </a:solidFill>
          <a:ln w="12700">
            <a:solidFill>
              <a:srgbClr val="CADCFC"/>
            </a:solidFill>
            <a:prstDash val="solid"/>
          </a:ln>
        </p:spPr>
      </p:sp>
      <p:sp>
        <p:nvSpPr>
          <p:cNvPr id="50" name="Shape 48"/>
          <p:cNvSpPr/>
          <p:nvPr/>
        </p:nvSpPr>
        <p:spPr>
          <a:xfrm>
            <a:off x="10311232" y="3995928"/>
            <a:ext cx="640080" cy="640080"/>
          </a:xfrm>
          <a:prstGeom prst="ellipse">
            <a:avLst/>
          </a:prstGeom>
          <a:solidFill>
            <a:srgbClr val="1E2761"/>
          </a:solidFill>
          <a:ln/>
        </p:spPr>
      </p:sp>
      <p:sp>
        <p:nvSpPr>
          <p:cNvPr id="51" name="Text 49"/>
          <p:cNvSpPr/>
          <p:nvPr/>
        </p:nvSpPr>
        <p:spPr>
          <a:xfrm>
            <a:off x="10311232" y="3995928"/>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GI</a:t>
            </a:r>
            <a:endParaRPr lang="en-US" sz="1400" dirty="0"/>
          </a:p>
        </p:txBody>
      </p:sp>
      <p:sp>
        <p:nvSpPr>
          <p:cNvPr id="52" name="Text 50"/>
          <p:cNvSpPr/>
          <p:nvPr/>
        </p:nvSpPr>
        <p:spPr>
          <a:xfrm>
            <a:off x="9648292" y="4709160"/>
            <a:ext cx="1965960" cy="32004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GitHub</a:t>
            </a:r>
            <a:endParaRPr lang="en-US" sz="1250" dirty="0"/>
          </a:p>
        </p:txBody>
      </p:sp>
      <p:sp>
        <p:nvSpPr>
          <p:cNvPr id="53" name="Text 51"/>
          <p:cNvSpPr/>
          <p:nvPr/>
        </p:nvSpPr>
        <p:spPr>
          <a:xfrm>
            <a:off x="9648292" y="5001768"/>
            <a:ext cx="1965960" cy="320040"/>
          </a:xfrm>
          <a:prstGeom prst="rect">
            <a:avLst/>
          </a:prstGeom>
          <a:noFill/>
          <a:ln/>
        </p:spPr>
        <p:txBody>
          <a:bodyPr wrap="square" lIns="0" tIns="0" rIns="0" bIns="0" rtlCol="0" anchor="ctr"/>
          <a:lstStyle/>
          <a:p>
            <a:pPr algn="ctr" indent="0" marL="0">
              <a:buNone/>
            </a:pPr>
            <a:r>
              <a:rPr lang="en-US" sz="950" dirty="0">
                <a:solidFill>
                  <a:srgbClr val="5A6B8C"/>
                </a:solidFill>
                <a:latin typeface="Calibri" pitchFamily="34" charset="0"/>
                <a:ea typeface="Calibri" pitchFamily="34" charset="-122"/>
                <a:cs typeface="Calibri" pitchFamily="34" charset="-120"/>
              </a:rPr>
              <a:t>Version control</a:t>
            </a:r>
            <a:endParaRPr lang="en-US" sz="950" dirty="0"/>
          </a:p>
        </p:txBody>
      </p:sp>
      <p:sp>
        <p:nvSpPr>
          <p:cNvPr id="54" name="Text 52"/>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CrowdWisdomTrading  |  Hermes Marketing Agents</a:t>
            </a:r>
            <a:endParaRPr lang="en-US" sz="900" dirty="0"/>
          </a:p>
        </p:txBody>
      </p:sp>
      <p:sp>
        <p:nvSpPr>
          <p:cNvPr id="55" name="Text 5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B4D"/>
        </a:solidFill>
      </p:bgPr>
    </p:bg>
    <p:spTree>
      <p:nvGrpSpPr>
        <p:cNvPr id="1" name=""/>
        <p:cNvGrpSpPr/>
        <p:nvPr/>
      </p:nvGrpSpPr>
      <p:grpSpPr>
        <a:xfrm>
          <a:off x="0" y="0"/>
          <a:ext cx="0" cy="0"/>
          <a:chOff x="0" y="0"/>
          <a:chExt cx="0" cy="0"/>
        </a:xfrm>
      </p:grpSpPr>
      <p:sp>
        <p:nvSpPr>
          <p:cNvPr id="2" name="Text 0"/>
          <p:cNvSpPr/>
          <p:nvPr/>
        </p:nvSpPr>
        <p:spPr>
          <a:xfrm>
            <a:off x="548640" y="365760"/>
            <a:ext cx="91440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System Architecture</a:t>
            </a:r>
            <a:endParaRPr lang="en-US" sz="3000" dirty="0"/>
          </a:p>
        </p:txBody>
      </p:sp>
      <p:sp>
        <p:nvSpPr>
          <p:cNvPr id="3" name="Text 1"/>
          <p:cNvSpPr/>
          <p:nvPr/>
        </p:nvSpPr>
        <p:spPr>
          <a:xfrm>
            <a:off x="548640" y="868680"/>
            <a:ext cx="10058400" cy="365760"/>
          </a:xfrm>
          <a:prstGeom prst="rect">
            <a:avLst/>
          </a:prstGeom>
          <a:noFill/>
          <a:ln/>
        </p:spPr>
        <p:txBody>
          <a:bodyPr wrap="square" lIns="0" tIns="0" rIns="0" bIns="0" rtlCol="0" anchor="ctr"/>
          <a:lstStyle/>
          <a:p>
            <a:pPr indent="0" marL="0">
              <a:buNone/>
            </a:pPr>
            <a:r>
              <a:rPr lang="en-US" sz="1250" i="1" dirty="0">
                <a:solidFill>
                  <a:srgbClr val="CADCFC"/>
                </a:solidFill>
                <a:latin typeface="Calibri" pitchFamily="34" charset="0"/>
                <a:ea typeface="Calibri" pitchFamily="34" charset="-122"/>
                <a:cs typeface="Calibri" pitchFamily="34" charset="-120"/>
              </a:rPr>
              <a:t>Layered, agent-orchestrated pipeline (Hermes as the orchestration backbone)</a:t>
            </a:r>
            <a:endParaRPr lang="en-US" sz="1250" dirty="0"/>
          </a:p>
        </p:txBody>
      </p:sp>
      <p:sp>
        <p:nvSpPr>
          <p:cNvPr id="4" name="Shape 2"/>
          <p:cNvSpPr/>
          <p:nvPr/>
        </p:nvSpPr>
        <p:spPr>
          <a:xfrm>
            <a:off x="685800" y="1508760"/>
            <a:ext cx="10789920" cy="960120"/>
          </a:xfrm>
          <a:prstGeom prst="roundRect">
            <a:avLst>
              <a:gd name="adj" fmla="val 7619"/>
            </a:avLst>
          </a:prstGeom>
          <a:solidFill>
            <a:srgbClr val="1E2761"/>
          </a:solidFill>
          <a:ln w="9525">
            <a:solidFill>
              <a:srgbClr val="5A6B8C"/>
            </a:solidFill>
            <a:prstDash val="solid"/>
          </a:ln>
        </p:spPr>
      </p:sp>
      <p:sp>
        <p:nvSpPr>
          <p:cNvPr id="5" name="Shape 3"/>
          <p:cNvSpPr/>
          <p:nvPr/>
        </p:nvSpPr>
        <p:spPr>
          <a:xfrm>
            <a:off x="914400" y="1714500"/>
            <a:ext cx="548640" cy="548640"/>
          </a:xfrm>
          <a:prstGeom prst="ellipse">
            <a:avLst/>
          </a:prstGeom>
          <a:solidFill>
            <a:srgbClr val="F2B705"/>
          </a:solidFill>
          <a:ln/>
        </p:spPr>
      </p:sp>
      <p:sp>
        <p:nvSpPr>
          <p:cNvPr id="6" name="Text 4"/>
          <p:cNvSpPr/>
          <p:nvPr/>
        </p:nvSpPr>
        <p:spPr>
          <a:xfrm>
            <a:off x="914400" y="1714500"/>
            <a:ext cx="548640" cy="548640"/>
          </a:xfrm>
          <a:prstGeom prst="rect">
            <a:avLst/>
          </a:prstGeom>
          <a:noFill/>
          <a:ln/>
        </p:spPr>
        <p:txBody>
          <a:bodyPr wrap="square" lIns="0" tIns="0" rIns="0" bIns="0"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691640" y="1618488"/>
            <a:ext cx="29260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Ingestion</a:t>
            </a:r>
            <a:endParaRPr lang="en-US" sz="1500" dirty="0"/>
          </a:p>
        </p:txBody>
      </p:sp>
      <p:sp>
        <p:nvSpPr>
          <p:cNvPr id="8" name="Text 6"/>
          <p:cNvSpPr/>
          <p:nvPr/>
        </p:nvSpPr>
        <p:spPr>
          <a:xfrm>
            <a:off x="1691640" y="1984248"/>
            <a:ext cx="9509760" cy="41148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Apify scrapers pull live Meta Ad Library data</a:t>
            </a:r>
            <a:endParaRPr lang="en-US" sz="1150" dirty="0"/>
          </a:p>
        </p:txBody>
      </p:sp>
      <p:sp>
        <p:nvSpPr>
          <p:cNvPr id="9" name="Shape 7"/>
          <p:cNvSpPr/>
          <p:nvPr/>
        </p:nvSpPr>
        <p:spPr>
          <a:xfrm>
            <a:off x="6080760" y="2468880"/>
            <a:ext cx="0" cy="256032"/>
          </a:xfrm>
          <a:prstGeom prst="line">
            <a:avLst/>
          </a:prstGeom>
          <a:noFill/>
          <a:ln w="19050">
            <a:solidFill>
              <a:srgbClr val="F2B705"/>
            </a:solidFill>
            <a:prstDash val="solid"/>
            <a:tailEnd type="triangle"/>
          </a:ln>
        </p:spPr>
      </p:sp>
      <p:sp>
        <p:nvSpPr>
          <p:cNvPr id="10" name="Shape 8"/>
          <p:cNvSpPr/>
          <p:nvPr/>
        </p:nvSpPr>
        <p:spPr>
          <a:xfrm>
            <a:off x="685800" y="2724912"/>
            <a:ext cx="10789920" cy="960120"/>
          </a:xfrm>
          <a:prstGeom prst="roundRect">
            <a:avLst>
              <a:gd name="adj" fmla="val 7619"/>
            </a:avLst>
          </a:prstGeom>
          <a:solidFill>
            <a:srgbClr val="1E2761"/>
          </a:solidFill>
          <a:ln w="9525">
            <a:solidFill>
              <a:srgbClr val="5A6B8C"/>
            </a:solidFill>
            <a:prstDash val="solid"/>
          </a:ln>
        </p:spPr>
      </p:sp>
      <p:sp>
        <p:nvSpPr>
          <p:cNvPr id="11" name="Shape 9"/>
          <p:cNvSpPr/>
          <p:nvPr/>
        </p:nvSpPr>
        <p:spPr>
          <a:xfrm>
            <a:off x="914400" y="2930652"/>
            <a:ext cx="548640" cy="548640"/>
          </a:xfrm>
          <a:prstGeom prst="ellipse">
            <a:avLst/>
          </a:prstGeom>
          <a:solidFill>
            <a:srgbClr val="F2B705"/>
          </a:solidFill>
          <a:ln/>
        </p:spPr>
      </p:sp>
      <p:sp>
        <p:nvSpPr>
          <p:cNvPr id="12" name="Text 10"/>
          <p:cNvSpPr/>
          <p:nvPr/>
        </p:nvSpPr>
        <p:spPr>
          <a:xfrm>
            <a:off x="914400" y="2930652"/>
            <a:ext cx="548640" cy="548640"/>
          </a:xfrm>
          <a:prstGeom prst="rect">
            <a:avLst/>
          </a:prstGeom>
          <a:noFill/>
          <a:ln/>
        </p:spPr>
        <p:txBody>
          <a:bodyPr wrap="square" lIns="0" tIns="0" rIns="0" bIns="0"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691640" y="2834640"/>
            <a:ext cx="29260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Orchestration</a:t>
            </a:r>
            <a:endParaRPr lang="en-US" sz="1500" dirty="0"/>
          </a:p>
        </p:txBody>
      </p:sp>
      <p:sp>
        <p:nvSpPr>
          <p:cNvPr id="14" name="Text 12"/>
          <p:cNvSpPr/>
          <p:nvPr/>
        </p:nvSpPr>
        <p:spPr>
          <a:xfrm>
            <a:off x="1691640" y="3200400"/>
            <a:ext cx="9509760" cy="41148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Hermes agents coordinate discovery → insight → script → video</a:t>
            </a:r>
            <a:endParaRPr lang="en-US" sz="1150" dirty="0"/>
          </a:p>
        </p:txBody>
      </p:sp>
      <p:sp>
        <p:nvSpPr>
          <p:cNvPr id="15" name="Shape 13"/>
          <p:cNvSpPr/>
          <p:nvPr/>
        </p:nvSpPr>
        <p:spPr>
          <a:xfrm>
            <a:off x="6080760" y="3685032"/>
            <a:ext cx="0" cy="256032"/>
          </a:xfrm>
          <a:prstGeom prst="line">
            <a:avLst/>
          </a:prstGeom>
          <a:noFill/>
          <a:ln w="19050">
            <a:solidFill>
              <a:srgbClr val="F2B705"/>
            </a:solidFill>
            <a:prstDash val="solid"/>
            <a:tailEnd type="triangle"/>
          </a:ln>
        </p:spPr>
      </p:sp>
      <p:sp>
        <p:nvSpPr>
          <p:cNvPr id="16" name="Shape 14"/>
          <p:cNvSpPr/>
          <p:nvPr/>
        </p:nvSpPr>
        <p:spPr>
          <a:xfrm>
            <a:off x="685800" y="3941064"/>
            <a:ext cx="10789920" cy="960120"/>
          </a:xfrm>
          <a:prstGeom prst="roundRect">
            <a:avLst>
              <a:gd name="adj" fmla="val 7619"/>
            </a:avLst>
          </a:prstGeom>
          <a:solidFill>
            <a:srgbClr val="1E2761"/>
          </a:solidFill>
          <a:ln w="9525">
            <a:solidFill>
              <a:srgbClr val="5A6B8C"/>
            </a:solidFill>
            <a:prstDash val="solid"/>
          </a:ln>
        </p:spPr>
      </p:sp>
      <p:sp>
        <p:nvSpPr>
          <p:cNvPr id="17" name="Shape 15"/>
          <p:cNvSpPr/>
          <p:nvPr/>
        </p:nvSpPr>
        <p:spPr>
          <a:xfrm>
            <a:off x="914400" y="4146804"/>
            <a:ext cx="548640" cy="548640"/>
          </a:xfrm>
          <a:prstGeom prst="ellipse">
            <a:avLst/>
          </a:prstGeom>
          <a:solidFill>
            <a:srgbClr val="F2B705"/>
          </a:solidFill>
          <a:ln/>
        </p:spPr>
      </p:sp>
      <p:sp>
        <p:nvSpPr>
          <p:cNvPr id="18" name="Text 16"/>
          <p:cNvSpPr/>
          <p:nvPr/>
        </p:nvSpPr>
        <p:spPr>
          <a:xfrm>
            <a:off x="914400" y="4146804"/>
            <a:ext cx="548640" cy="548640"/>
          </a:xfrm>
          <a:prstGeom prst="rect">
            <a:avLst/>
          </a:prstGeom>
          <a:noFill/>
          <a:ln/>
        </p:spPr>
        <p:txBody>
          <a:bodyPr wrap="square" lIns="0" tIns="0" rIns="0" bIns="0"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691640" y="4050792"/>
            <a:ext cx="29260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Intelligence</a:t>
            </a:r>
            <a:endParaRPr lang="en-US" sz="1500" dirty="0"/>
          </a:p>
        </p:txBody>
      </p:sp>
      <p:sp>
        <p:nvSpPr>
          <p:cNvPr id="20" name="Text 18"/>
          <p:cNvSpPr/>
          <p:nvPr/>
        </p:nvSpPr>
        <p:spPr>
          <a:xfrm>
            <a:off x="1691640" y="4416552"/>
            <a:ext cx="9509760" cy="41148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OpenRouter-hosted LLMs power analysis &amp; generation</a:t>
            </a:r>
            <a:endParaRPr lang="en-US" sz="1150" dirty="0"/>
          </a:p>
        </p:txBody>
      </p:sp>
      <p:sp>
        <p:nvSpPr>
          <p:cNvPr id="21" name="Shape 19"/>
          <p:cNvSpPr/>
          <p:nvPr/>
        </p:nvSpPr>
        <p:spPr>
          <a:xfrm>
            <a:off x="6080760" y="4901184"/>
            <a:ext cx="0" cy="256032"/>
          </a:xfrm>
          <a:prstGeom prst="line">
            <a:avLst/>
          </a:prstGeom>
          <a:noFill/>
          <a:ln w="19050">
            <a:solidFill>
              <a:srgbClr val="F2B705"/>
            </a:solidFill>
            <a:prstDash val="solid"/>
            <a:tailEnd type="triangle"/>
          </a:ln>
        </p:spPr>
      </p:sp>
      <p:sp>
        <p:nvSpPr>
          <p:cNvPr id="22" name="Shape 20"/>
          <p:cNvSpPr/>
          <p:nvPr/>
        </p:nvSpPr>
        <p:spPr>
          <a:xfrm>
            <a:off x="685800" y="5157216"/>
            <a:ext cx="10789920" cy="960120"/>
          </a:xfrm>
          <a:prstGeom prst="roundRect">
            <a:avLst>
              <a:gd name="adj" fmla="val 7619"/>
            </a:avLst>
          </a:prstGeom>
          <a:solidFill>
            <a:srgbClr val="1E2761"/>
          </a:solidFill>
          <a:ln w="9525">
            <a:solidFill>
              <a:srgbClr val="5A6B8C"/>
            </a:solidFill>
            <a:prstDash val="solid"/>
          </a:ln>
        </p:spPr>
      </p:sp>
      <p:sp>
        <p:nvSpPr>
          <p:cNvPr id="23" name="Shape 21"/>
          <p:cNvSpPr/>
          <p:nvPr/>
        </p:nvSpPr>
        <p:spPr>
          <a:xfrm>
            <a:off x="914400" y="5362956"/>
            <a:ext cx="548640" cy="548640"/>
          </a:xfrm>
          <a:prstGeom prst="ellipse">
            <a:avLst/>
          </a:prstGeom>
          <a:solidFill>
            <a:srgbClr val="F2B705"/>
          </a:solidFill>
          <a:ln/>
        </p:spPr>
      </p:sp>
      <p:sp>
        <p:nvSpPr>
          <p:cNvPr id="24" name="Text 22"/>
          <p:cNvSpPr/>
          <p:nvPr/>
        </p:nvSpPr>
        <p:spPr>
          <a:xfrm>
            <a:off x="914400" y="5362956"/>
            <a:ext cx="548640" cy="548640"/>
          </a:xfrm>
          <a:prstGeom prst="rect">
            <a:avLst/>
          </a:prstGeom>
          <a:noFill/>
          <a:ln/>
        </p:spPr>
        <p:txBody>
          <a:bodyPr wrap="square" lIns="0" tIns="0" rIns="0" bIns="0"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1691640" y="5266944"/>
            <a:ext cx="29260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Delivery</a:t>
            </a:r>
            <a:endParaRPr lang="en-US" sz="1500" dirty="0"/>
          </a:p>
        </p:txBody>
      </p:sp>
      <p:sp>
        <p:nvSpPr>
          <p:cNvPr id="26" name="Text 24"/>
          <p:cNvSpPr/>
          <p:nvPr/>
        </p:nvSpPr>
        <p:spPr>
          <a:xfrm>
            <a:off x="1691640" y="5632704"/>
            <a:ext cx="9509760" cy="41148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Telegram bot handles requests and returns results</a:t>
            </a:r>
            <a:endParaRPr lang="en-US" sz="1150" dirty="0"/>
          </a:p>
        </p:txBody>
      </p:sp>
      <p:sp>
        <p:nvSpPr>
          <p:cNvPr id="27" name="Text 25"/>
          <p:cNvSpPr/>
          <p:nvPr/>
        </p:nvSpPr>
        <p:spPr>
          <a:xfrm>
            <a:off x="685800" y="6355080"/>
            <a:ext cx="10789920" cy="320040"/>
          </a:xfrm>
          <a:prstGeom prst="rect">
            <a:avLst/>
          </a:prstGeom>
          <a:noFill/>
          <a:ln/>
        </p:spPr>
        <p:txBody>
          <a:bodyPr wrap="square" lIns="0" tIns="0" rIns="0" bIns="0" rtlCol="0" anchor="ctr"/>
          <a:lstStyle/>
          <a:p>
            <a:pPr indent="0" marL="0">
              <a:buNone/>
            </a:pPr>
            <a:r>
              <a:rPr lang="en-US" sz="1050" i="1" dirty="0">
                <a:solidFill>
                  <a:srgbClr val="5A6B8C"/>
                </a:solidFill>
                <a:latin typeface="Calibri" pitchFamily="34" charset="0"/>
                <a:ea typeface="Calibri" pitchFamily="34" charset="-122"/>
                <a:cs typeface="Calibri" pitchFamily="34" charset="-120"/>
              </a:rPr>
              <a:t>Persistence (SQLite) and validation (Pydantic) run underneath every layer; the full stack is packaged for deployment with Docker.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Hermes Agents</a:t>
            </a:r>
            <a:endParaRPr lang="en-US" sz="3200" dirty="0"/>
          </a:p>
        </p:txBody>
      </p:sp>
      <p:sp>
        <p:nvSpPr>
          <p:cNvPr id="3" name="Text 1"/>
          <p:cNvSpPr/>
          <p:nvPr/>
        </p:nvSpPr>
        <p:spPr>
          <a:xfrm>
            <a:off x="548640" y="1051560"/>
            <a:ext cx="9144000" cy="365760"/>
          </a:xfrm>
          <a:prstGeom prst="rect">
            <a:avLst/>
          </a:prstGeom>
          <a:noFill/>
          <a:ln/>
        </p:spPr>
        <p:txBody>
          <a:bodyPr wrap="square" lIns="0" tIns="0" rIns="0" bIns="0" rtlCol="0" anchor="ctr"/>
          <a:lstStyle/>
          <a:p>
            <a:pPr indent="0" marL="0">
              <a:buNone/>
            </a:pPr>
            <a:r>
              <a:rPr lang="en-US" sz="1300" i="1" dirty="0">
                <a:solidFill>
                  <a:srgbClr val="5A6B8C"/>
                </a:solidFill>
                <a:latin typeface="Calibri" pitchFamily="34" charset="0"/>
                <a:ea typeface="Calibri" pitchFamily="34" charset="-122"/>
                <a:cs typeface="Calibri" pitchFamily="34" charset="-120"/>
              </a:rPr>
              <a:t>Agent responsibilities within the Hermes framework</a:t>
            </a:r>
            <a:endParaRPr lang="en-US" sz="1300" dirty="0"/>
          </a:p>
        </p:txBody>
      </p:sp>
      <p:sp>
        <p:nvSpPr>
          <p:cNvPr id="4" name="Shape 2"/>
          <p:cNvSpPr/>
          <p:nvPr/>
        </p:nvSpPr>
        <p:spPr>
          <a:xfrm>
            <a:off x="548640" y="1828800"/>
            <a:ext cx="3520440" cy="1737360"/>
          </a:xfrm>
          <a:prstGeom prst="roundRect">
            <a:avLst>
              <a:gd name="adj" fmla="val 4211"/>
            </a:avLst>
          </a:prstGeom>
          <a:solidFill>
            <a:srgbClr val="FFFFFF"/>
          </a:solidFill>
          <a:ln/>
          <a:effectLst>
            <a:outerShdw sx="100000" sy="100000" kx="0" ky="0" algn="bl" rotWithShape="0" blurRad="63500" dist="25400" dir="5400000">
              <a:srgbClr val="1B2340">
                <a:alpha val="16000"/>
              </a:srgbClr>
            </a:outerShdw>
          </a:effectLst>
        </p:spPr>
      </p:sp>
      <p:sp>
        <p:nvSpPr>
          <p:cNvPr id="5" name="Shape 3"/>
          <p:cNvSpPr/>
          <p:nvPr/>
        </p:nvSpPr>
        <p:spPr>
          <a:xfrm>
            <a:off x="777240" y="2057400"/>
            <a:ext cx="457200" cy="457200"/>
          </a:xfrm>
          <a:prstGeom prst="ellipse">
            <a:avLst/>
          </a:prstGeom>
          <a:solidFill>
            <a:srgbClr val="1E2761"/>
          </a:solidFill>
          <a:ln/>
        </p:spPr>
      </p:sp>
      <p:sp>
        <p:nvSpPr>
          <p:cNvPr id="6" name="Text 4"/>
          <p:cNvSpPr/>
          <p:nvPr/>
        </p:nvSpPr>
        <p:spPr>
          <a:xfrm>
            <a:off x="777240" y="2057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A1</a:t>
            </a:r>
            <a:endParaRPr lang="en-US" sz="1400" dirty="0"/>
          </a:p>
        </p:txBody>
      </p:sp>
      <p:sp>
        <p:nvSpPr>
          <p:cNvPr id="7" name="Text 5"/>
          <p:cNvSpPr/>
          <p:nvPr/>
        </p:nvSpPr>
        <p:spPr>
          <a:xfrm>
            <a:off x="777240" y="2651760"/>
            <a:ext cx="306324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Discovery Agent</a:t>
            </a:r>
            <a:endParaRPr lang="en-US" sz="1300" dirty="0"/>
          </a:p>
        </p:txBody>
      </p:sp>
      <p:sp>
        <p:nvSpPr>
          <p:cNvPr id="8" name="Text 6"/>
          <p:cNvSpPr/>
          <p:nvPr/>
        </p:nvSpPr>
        <p:spPr>
          <a:xfrm>
            <a:off x="777240" y="2944368"/>
            <a:ext cx="3063240" cy="566928"/>
          </a:xfrm>
          <a:prstGeom prst="rect">
            <a:avLst/>
          </a:prstGeom>
          <a:noFill/>
          <a:ln/>
        </p:spPr>
        <p:txBody>
          <a:bodyPr wrap="square" lIns="0" tIns="0" rIns="0" bIns="0" rtlCol="0" anchor="ctr"/>
          <a:lstStyle/>
          <a:p>
            <a:pPr indent="0" marL="0">
              <a:lnSpc>
                <a:spcPct val="120000"/>
              </a:lnSpc>
              <a:buNone/>
            </a:pPr>
            <a:r>
              <a:rPr lang="en-US" sz="1000" dirty="0">
                <a:solidFill>
                  <a:srgbClr val="1B2340"/>
                </a:solidFill>
                <a:latin typeface="Calibri" pitchFamily="34" charset="0"/>
                <a:ea typeface="Calibri" pitchFamily="34" charset="-122"/>
                <a:cs typeface="Calibri" pitchFamily="34" charset="-120"/>
              </a:rPr>
              <a:t>Queries Apify actors to retrieve candidate Meta ads and performance signals.</a:t>
            </a:r>
            <a:endParaRPr lang="en-US" sz="1000" dirty="0"/>
          </a:p>
        </p:txBody>
      </p:sp>
      <p:sp>
        <p:nvSpPr>
          <p:cNvPr id="9" name="Shape 7"/>
          <p:cNvSpPr/>
          <p:nvPr/>
        </p:nvSpPr>
        <p:spPr>
          <a:xfrm>
            <a:off x="4297680" y="1828800"/>
            <a:ext cx="3520440" cy="1737360"/>
          </a:xfrm>
          <a:prstGeom prst="roundRect">
            <a:avLst>
              <a:gd name="adj" fmla="val 4211"/>
            </a:avLst>
          </a:prstGeom>
          <a:solidFill>
            <a:srgbClr val="FFFFFF"/>
          </a:solidFill>
          <a:ln/>
          <a:effectLst>
            <a:outerShdw sx="100000" sy="100000" kx="0" ky="0" algn="bl" rotWithShape="0" blurRad="63500" dist="25400" dir="5400000">
              <a:srgbClr val="1B2340">
                <a:alpha val="16000"/>
              </a:srgbClr>
            </a:outerShdw>
          </a:effectLst>
        </p:spPr>
      </p:sp>
      <p:sp>
        <p:nvSpPr>
          <p:cNvPr id="10" name="Shape 8"/>
          <p:cNvSpPr/>
          <p:nvPr/>
        </p:nvSpPr>
        <p:spPr>
          <a:xfrm>
            <a:off x="4526280" y="2057400"/>
            <a:ext cx="457200" cy="457200"/>
          </a:xfrm>
          <a:prstGeom prst="ellipse">
            <a:avLst/>
          </a:prstGeom>
          <a:solidFill>
            <a:srgbClr val="1E2761"/>
          </a:solidFill>
          <a:ln/>
        </p:spPr>
      </p:sp>
      <p:sp>
        <p:nvSpPr>
          <p:cNvPr id="11" name="Text 9"/>
          <p:cNvSpPr/>
          <p:nvPr/>
        </p:nvSpPr>
        <p:spPr>
          <a:xfrm>
            <a:off x="4526280" y="2057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A2</a:t>
            </a:r>
            <a:endParaRPr lang="en-US" sz="1400" dirty="0"/>
          </a:p>
        </p:txBody>
      </p:sp>
      <p:sp>
        <p:nvSpPr>
          <p:cNvPr id="12" name="Text 10"/>
          <p:cNvSpPr/>
          <p:nvPr/>
        </p:nvSpPr>
        <p:spPr>
          <a:xfrm>
            <a:off x="4526280" y="2651760"/>
            <a:ext cx="306324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Insight Agent</a:t>
            </a:r>
            <a:endParaRPr lang="en-US" sz="1300" dirty="0"/>
          </a:p>
        </p:txBody>
      </p:sp>
      <p:sp>
        <p:nvSpPr>
          <p:cNvPr id="13" name="Text 11"/>
          <p:cNvSpPr/>
          <p:nvPr/>
        </p:nvSpPr>
        <p:spPr>
          <a:xfrm>
            <a:off x="4526280" y="2944368"/>
            <a:ext cx="3063240" cy="566928"/>
          </a:xfrm>
          <a:prstGeom prst="rect">
            <a:avLst/>
          </a:prstGeom>
          <a:noFill/>
          <a:ln/>
        </p:spPr>
        <p:txBody>
          <a:bodyPr wrap="square" lIns="0" tIns="0" rIns="0" bIns="0" rtlCol="0" anchor="ctr"/>
          <a:lstStyle/>
          <a:p>
            <a:pPr indent="0" marL="0">
              <a:lnSpc>
                <a:spcPct val="120000"/>
              </a:lnSpc>
              <a:buNone/>
            </a:pPr>
            <a:r>
              <a:rPr lang="en-US" sz="1000" dirty="0">
                <a:solidFill>
                  <a:srgbClr val="1B2340"/>
                </a:solidFill>
                <a:latin typeface="Calibri" pitchFamily="34" charset="0"/>
                <a:ea typeface="Calibri" pitchFamily="34" charset="-122"/>
                <a:cs typeface="Calibri" pitchFamily="34" charset="-120"/>
              </a:rPr>
              <a:t>Analyzes creative and copy to extract structural and messaging patterns.</a:t>
            </a:r>
            <a:endParaRPr lang="en-US" sz="1000" dirty="0"/>
          </a:p>
        </p:txBody>
      </p:sp>
      <p:sp>
        <p:nvSpPr>
          <p:cNvPr id="14" name="Shape 12"/>
          <p:cNvSpPr/>
          <p:nvPr/>
        </p:nvSpPr>
        <p:spPr>
          <a:xfrm>
            <a:off x="8046720" y="1828800"/>
            <a:ext cx="3520440" cy="1737360"/>
          </a:xfrm>
          <a:prstGeom prst="roundRect">
            <a:avLst>
              <a:gd name="adj" fmla="val 4211"/>
            </a:avLst>
          </a:prstGeom>
          <a:solidFill>
            <a:srgbClr val="FFFFFF"/>
          </a:solidFill>
          <a:ln/>
          <a:effectLst>
            <a:outerShdw sx="100000" sy="100000" kx="0" ky="0" algn="bl" rotWithShape="0" blurRad="63500" dist="25400" dir="5400000">
              <a:srgbClr val="1B2340">
                <a:alpha val="16000"/>
              </a:srgbClr>
            </a:outerShdw>
          </a:effectLst>
        </p:spPr>
      </p:sp>
      <p:sp>
        <p:nvSpPr>
          <p:cNvPr id="15" name="Shape 13"/>
          <p:cNvSpPr/>
          <p:nvPr/>
        </p:nvSpPr>
        <p:spPr>
          <a:xfrm>
            <a:off x="8275320" y="2057400"/>
            <a:ext cx="457200" cy="457200"/>
          </a:xfrm>
          <a:prstGeom prst="ellipse">
            <a:avLst/>
          </a:prstGeom>
          <a:solidFill>
            <a:srgbClr val="1E2761"/>
          </a:solidFill>
          <a:ln/>
        </p:spPr>
      </p:sp>
      <p:sp>
        <p:nvSpPr>
          <p:cNvPr id="16" name="Text 14"/>
          <p:cNvSpPr/>
          <p:nvPr/>
        </p:nvSpPr>
        <p:spPr>
          <a:xfrm>
            <a:off x="8275320" y="2057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A3</a:t>
            </a:r>
            <a:endParaRPr lang="en-US" sz="1400" dirty="0"/>
          </a:p>
        </p:txBody>
      </p:sp>
      <p:sp>
        <p:nvSpPr>
          <p:cNvPr id="17" name="Text 15"/>
          <p:cNvSpPr/>
          <p:nvPr/>
        </p:nvSpPr>
        <p:spPr>
          <a:xfrm>
            <a:off x="8275320" y="2651760"/>
            <a:ext cx="306324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Script Agent</a:t>
            </a:r>
            <a:endParaRPr lang="en-US" sz="1300" dirty="0"/>
          </a:p>
        </p:txBody>
      </p:sp>
      <p:sp>
        <p:nvSpPr>
          <p:cNvPr id="18" name="Text 16"/>
          <p:cNvSpPr/>
          <p:nvPr/>
        </p:nvSpPr>
        <p:spPr>
          <a:xfrm>
            <a:off x="8275320" y="2944368"/>
            <a:ext cx="3063240" cy="566928"/>
          </a:xfrm>
          <a:prstGeom prst="rect">
            <a:avLst/>
          </a:prstGeom>
          <a:noFill/>
          <a:ln/>
        </p:spPr>
        <p:txBody>
          <a:bodyPr wrap="square" lIns="0" tIns="0" rIns="0" bIns="0" rtlCol="0" anchor="ctr"/>
          <a:lstStyle/>
          <a:p>
            <a:pPr indent="0" marL="0">
              <a:lnSpc>
                <a:spcPct val="120000"/>
              </a:lnSpc>
              <a:buNone/>
            </a:pPr>
            <a:r>
              <a:rPr lang="en-US" sz="1000" dirty="0">
                <a:solidFill>
                  <a:srgbClr val="1B2340"/>
                </a:solidFill>
                <a:latin typeface="Calibri" pitchFamily="34" charset="0"/>
                <a:ea typeface="Calibri" pitchFamily="34" charset="-122"/>
                <a:cs typeface="Calibri" pitchFamily="34" charset="-120"/>
              </a:rPr>
              <a:t>Drafts new ad scripts grounded in extracted insights, via OpenRouter LLMs.</a:t>
            </a:r>
            <a:endParaRPr lang="en-US" sz="1000" dirty="0"/>
          </a:p>
        </p:txBody>
      </p:sp>
      <p:sp>
        <p:nvSpPr>
          <p:cNvPr id="19" name="Shape 17"/>
          <p:cNvSpPr/>
          <p:nvPr/>
        </p:nvSpPr>
        <p:spPr>
          <a:xfrm>
            <a:off x="548640" y="3794760"/>
            <a:ext cx="3520440" cy="1737360"/>
          </a:xfrm>
          <a:prstGeom prst="roundRect">
            <a:avLst>
              <a:gd name="adj" fmla="val 4211"/>
            </a:avLst>
          </a:prstGeom>
          <a:solidFill>
            <a:srgbClr val="FFFFFF"/>
          </a:solidFill>
          <a:ln/>
          <a:effectLst>
            <a:outerShdw sx="100000" sy="100000" kx="0" ky="0" algn="bl" rotWithShape="0" blurRad="63500" dist="25400" dir="5400000">
              <a:srgbClr val="1B2340">
                <a:alpha val="16000"/>
              </a:srgbClr>
            </a:outerShdw>
          </a:effectLst>
        </p:spPr>
      </p:sp>
      <p:sp>
        <p:nvSpPr>
          <p:cNvPr id="20" name="Shape 18"/>
          <p:cNvSpPr/>
          <p:nvPr/>
        </p:nvSpPr>
        <p:spPr>
          <a:xfrm>
            <a:off x="777240" y="4023360"/>
            <a:ext cx="457200" cy="457200"/>
          </a:xfrm>
          <a:prstGeom prst="ellipse">
            <a:avLst/>
          </a:prstGeom>
          <a:solidFill>
            <a:srgbClr val="1E2761"/>
          </a:solidFill>
          <a:ln/>
        </p:spPr>
      </p:sp>
      <p:sp>
        <p:nvSpPr>
          <p:cNvPr id="21" name="Text 19"/>
          <p:cNvSpPr/>
          <p:nvPr/>
        </p:nvSpPr>
        <p:spPr>
          <a:xfrm>
            <a:off x="777240" y="4023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A4</a:t>
            </a:r>
            <a:endParaRPr lang="en-US" sz="1400" dirty="0"/>
          </a:p>
        </p:txBody>
      </p:sp>
      <p:sp>
        <p:nvSpPr>
          <p:cNvPr id="22" name="Text 20"/>
          <p:cNvSpPr/>
          <p:nvPr/>
        </p:nvSpPr>
        <p:spPr>
          <a:xfrm>
            <a:off x="777240" y="4617720"/>
            <a:ext cx="306324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Video Agent</a:t>
            </a:r>
            <a:endParaRPr lang="en-US" sz="1300" dirty="0"/>
          </a:p>
        </p:txBody>
      </p:sp>
      <p:sp>
        <p:nvSpPr>
          <p:cNvPr id="23" name="Text 21"/>
          <p:cNvSpPr/>
          <p:nvPr/>
        </p:nvSpPr>
        <p:spPr>
          <a:xfrm>
            <a:off x="777240" y="4910328"/>
            <a:ext cx="3063240" cy="566928"/>
          </a:xfrm>
          <a:prstGeom prst="rect">
            <a:avLst/>
          </a:prstGeom>
          <a:noFill/>
          <a:ln/>
        </p:spPr>
        <p:txBody>
          <a:bodyPr wrap="square" lIns="0" tIns="0" rIns="0" bIns="0" rtlCol="0" anchor="ctr"/>
          <a:lstStyle/>
          <a:p>
            <a:pPr indent="0" marL="0">
              <a:lnSpc>
                <a:spcPct val="120000"/>
              </a:lnSpc>
              <a:buNone/>
            </a:pPr>
            <a:r>
              <a:rPr lang="en-US" sz="1000" dirty="0">
                <a:solidFill>
                  <a:srgbClr val="1B2340"/>
                </a:solidFill>
                <a:latin typeface="Calibri" pitchFamily="34" charset="0"/>
                <a:ea typeface="Calibri" pitchFamily="34" charset="-122"/>
                <a:cs typeface="Calibri" pitchFamily="34" charset="-120"/>
              </a:rPr>
              <a:t>Sends finalized scripts to OpenMontage to render AI video advertisements.</a:t>
            </a:r>
            <a:endParaRPr lang="en-US" sz="1000" dirty="0"/>
          </a:p>
        </p:txBody>
      </p:sp>
      <p:sp>
        <p:nvSpPr>
          <p:cNvPr id="24" name="Shape 22"/>
          <p:cNvSpPr/>
          <p:nvPr/>
        </p:nvSpPr>
        <p:spPr>
          <a:xfrm>
            <a:off x="4297680" y="3794760"/>
            <a:ext cx="3520440" cy="1737360"/>
          </a:xfrm>
          <a:prstGeom prst="roundRect">
            <a:avLst>
              <a:gd name="adj" fmla="val 4211"/>
            </a:avLst>
          </a:prstGeom>
          <a:solidFill>
            <a:srgbClr val="FFFFFF"/>
          </a:solidFill>
          <a:ln/>
          <a:effectLst>
            <a:outerShdw sx="100000" sy="100000" kx="0" ky="0" algn="bl" rotWithShape="0" blurRad="63500" dist="25400" dir="5400000">
              <a:srgbClr val="1B2340">
                <a:alpha val="16000"/>
              </a:srgbClr>
            </a:outerShdw>
          </a:effectLst>
        </p:spPr>
      </p:sp>
      <p:sp>
        <p:nvSpPr>
          <p:cNvPr id="25" name="Shape 23"/>
          <p:cNvSpPr/>
          <p:nvPr/>
        </p:nvSpPr>
        <p:spPr>
          <a:xfrm>
            <a:off x="4526280" y="4023360"/>
            <a:ext cx="457200" cy="457200"/>
          </a:xfrm>
          <a:prstGeom prst="ellipse">
            <a:avLst/>
          </a:prstGeom>
          <a:solidFill>
            <a:srgbClr val="1E2761"/>
          </a:solidFill>
          <a:ln/>
        </p:spPr>
      </p:sp>
      <p:sp>
        <p:nvSpPr>
          <p:cNvPr id="26" name="Text 24"/>
          <p:cNvSpPr/>
          <p:nvPr/>
        </p:nvSpPr>
        <p:spPr>
          <a:xfrm>
            <a:off x="4526280" y="4023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A5</a:t>
            </a:r>
            <a:endParaRPr lang="en-US" sz="1400" dirty="0"/>
          </a:p>
        </p:txBody>
      </p:sp>
      <p:sp>
        <p:nvSpPr>
          <p:cNvPr id="27" name="Text 25"/>
          <p:cNvSpPr/>
          <p:nvPr/>
        </p:nvSpPr>
        <p:spPr>
          <a:xfrm>
            <a:off x="4526280" y="4617720"/>
            <a:ext cx="306324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Telegram Agent</a:t>
            </a:r>
            <a:endParaRPr lang="en-US" sz="1300" dirty="0"/>
          </a:p>
        </p:txBody>
      </p:sp>
      <p:sp>
        <p:nvSpPr>
          <p:cNvPr id="28" name="Text 26"/>
          <p:cNvSpPr/>
          <p:nvPr/>
        </p:nvSpPr>
        <p:spPr>
          <a:xfrm>
            <a:off x="4526280" y="4910328"/>
            <a:ext cx="3063240" cy="566928"/>
          </a:xfrm>
          <a:prstGeom prst="rect">
            <a:avLst/>
          </a:prstGeom>
          <a:noFill/>
          <a:ln/>
        </p:spPr>
        <p:txBody>
          <a:bodyPr wrap="square" lIns="0" tIns="0" rIns="0" bIns="0" rtlCol="0" anchor="ctr"/>
          <a:lstStyle/>
          <a:p>
            <a:pPr indent="0" marL="0">
              <a:lnSpc>
                <a:spcPct val="120000"/>
              </a:lnSpc>
              <a:buNone/>
            </a:pPr>
            <a:r>
              <a:rPr lang="en-US" sz="1000" dirty="0">
                <a:solidFill>
                  <a:srgbClr val="1B2340"/>
                </a:solidFill>
                <a:latin typeface="Calibri" pitchFamily="34" charset="0"/>
                <a:ea typeface="Calibri" pitchFamily="34" charset="-122"/>
                <a:cs typeface="Calibri" pitchFamily="34" charset="-120"/>
              </a:rPr>
              <a:t>Handles user commands, request intake, and result delivery via Telegram.</a:t>
            </a:r>
            <a:endParaRPr lang="en-US" sz="1000" dirty="0"/>
          </a:p>
        </p:txBody>
      </p:sp>
      <p:sp>
        <p:nvSpPr>
          <p:cNvPr id="29" name="Shape 27"/>
          <p:cNvSpPr/>
          <p:nvPr/>
        </p:nvSpPr>
        <p:spPr>
          <a:xfrm>
            <a:off x="8046720" y="3794760"/>
            <a:ext cx="3520440" cy="1737360"/>
          </a:xfrm>
          <a:prstGeom prst="roundRect">
            <a:avLst>
              <a:gd name="adj" fmla="val 4211"/>
            </a:avLst>
          </a:prstGeom>
          <a:solidFill>
            <a:srgbClr val="FFFFFF"/>
          </a:solidFill>
          <a:ln/>
          <a:effectLst>
            <a:outerShdw sx="100000" sy="100000" kx="0" ky="0" algn="bl" rotWithShape="0" blurRad="63500" dist="25400" dir="5400000">
              <a:srgbClr val="1B2340">
                <a:alpha val="16000"/>
              </a:srgbClr>
            </a:outerShdw>
          </a:effectLst>
        </p:spPr>
      </p:sp>
      <p:sp>
        <p:nvSpPr>
          <p:cNvPr id="30" name="Shape 28"/>
          <p:cNvSpPr/>
          <p:nvPr/>
        </p:nvSpPr>
        <p:spPr>
          <a:xfrm>
            <a:off x="8275320" y="4023360"/>
            <a:ext cx="457200" cy="457200"/>
          </a:xfrm>
          <a:prstGeom prst="ellipse">
            <a:avLst/>
          </a:prstGeom>
          <a:solidFill>
            <a:srgbClr val="1E2761"/>
          </a:solidFill>
          <a:ln/>
        </p:spPr>
      </p:sp>
      <p:sp>
        <p:nvSpPr>
          <p:cNvPr id="31" name="Text 29"/>
          <p:cNvSpPr/>
          <p:nvPr/>
        </p:nvSpPr>
        <p:spPr>
          <a:xfrm>
            <a:off x="8275320" y="4023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A6</a:t>
            </a:r>
            <a:endParaRPr lang="en-US" sz="1400" dirty="0"/>
          </a:p>
        </p:txBody>
      </p:sp>
      <p:sp>
        <p:nvSpPr>
          <p:cNvPr id="32" name="Text 30"/>
          <p:cNvSpPr/>
          <p:nvPr/>
        </p:nvSpPr>
        <p:spPr>
          <a:xfrm>
            <a:off x="8275320" y="4617720"/>
            <a:ext cx="306324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Orchestrator Agent</a:t>
            </a:r>
            <a:endParaRPr lang="en-US" sz="1300" dirty="0"/>
          </a:p>
        </p:txBody>
      </p:sp>
      <p:sp>
        <p:nvSpPr>
          <p:cNvPr id="33" name="Text 31"/>
          <p:cNvSpPr/>
          <p:nvPr/>
        </p:nvSpPr>
        <p:spPr>
          <a:xfrm>
            <a:off x="8275320" y="4910328"/>
            <a:ext cx="3063240" cy="566928"/>
          </a:xfrm>
          <a:prstGeom prst="rect">
            <a:avLst/>
          </a:prstGeom>
          <a:noFill/>
          <a:ln/>
        </p:spPr>
        <p:txBody>
          <a:bodyPr wrap="square" lIns="0" tIns="0" rIns="0" bIns="0" rtlCol="0" anchor="ctr"/>
          <a:lstStyle/>
          <a:p>
            <a:pPr indent="0" marL="0">
              <a:lnSpc>
                <a:spcPct val="120000"/>
              </a:lnSpc>
              <a:buNone/>
            </a:pPr>
            <a:r>
              <a:rPr lang="en-US" sz="1000" dirty="0">
                <a:solidFill>
                  <a:srgbClr val="1B2340"/>
                </a:solidFill>
                <a:latin typeface="Calibri" pitchFamily="34" charset="0"/>
                <a:ea typeface="Calibri" pitchFamily="34" charset="-122"/>
                <a:cs typeface="Calibri" pitchFamily="34" charset="-120"/>
              </a:rPr>
              <a:t>Sequences the pipeline end-to-end and manages state across agents.</a:t>
            </a:r>
            <a:endParaRPr lang="en-US" sz="1000" dirty="0"/>
          </a:p>
        </p:txBody>
      </p:sp>
      <p:sp>
        <p:nvSpPr>
          <p:cNvPr id="34" name="Text 32"/>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CrowdWisdomTrading  |  Hermes Marketing Agents</a:t>
            </a:r>
            <a:endParaRPr lang="en-US" sz="900" dirty="0"/>
          </a:p>
        </p:txBody>
      </p:sp>
      <p:sp>
        <p:nvSpPr>
          <p:cNvPr id="35" name="Text 3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End-to-End Workflow</a:t>
            </a:r>
            <a:endParaRPr lang="en-US" sz="3200" dirty="0"/>
          </a:p>
        </p:txBody>
      </p:sp>
      <p:sp>
        <p:nvSpPr>
          <p:cNvPr id="3" name="Text 1"/>
          <p:cNvSpPr/>
          <p:nvPr/>
        </p:nvSpPr>
        <p:spPr>
          <a:xfrm>
            <a:off x="548640" y="1051560"/>
            <a:ext cx="9144000" cy="365760"/>
          </a:xfrm>
          <a:prstGeom prst="rect">
            <a:avLst/>
          </a:prstGeom>
          <a:noFill/>
          <a:ln/>
        </p:spPr>
        <p:txBody>
          <a:bodyPr wrap="square" lIns="0" tIns="0" rIns="0" bIns="0" rtlCol="0" anchor="ctr"/>
          <a:lstStyle/>
          <a:p>
            <a:pPr indent="0" marL="0">
              <a:buNone/>
            </a:pPr>
            <a:r>
              <a:rPr lang="en-US" sz="1300" i="1" dirty="0">
                <a:solidFill>
                  <a:srgbClr val="5A6B8C"/>
                </a:solidFill>
                <a:latin typeface="Calibri" pitchFamily="34" charset="0"/>
                <a:ea typeface="Calibri" pitchFamily="34" charset="-122"/>
                <a:cs typeface="Calibri" pitchFamily="34" charset="-120"/>
              </a:rPr>
              <a:t>From Telegram request to delivered video ad</a:t>
            </a:r>
            <a:endParaRPr lang="en-US" sz="1300" dirty="0"/>
          </a:p>
        </p:txBody>
      </p:sp>
      <p:sp>
        <p:nvSpPr>
          <p:cNvPr id="4" name="Shape 2"/>
          <p:cNvSpPr/>
          <p:nvPr/>
        </p:nvSpPr>
        <p:spPr>
          <a:xfrm>
            <a:off x="655168" y="2468880"/>
            <a:ext cx="1600200" cy="1371600"/>
          </a:xfrm>
          <a:prstGeom prst="roundRect">
            <a:avLst>
              <a:gd name="adj" fmla="val 5333"/>
            </a:avLst>
          </a:prstGeom>
          <a:solidFill>
            <a:srgbClr val="1E2761"/>
          </a:solidFill>
          <a:ln/>
        </p:spPr>
      </p:sp>
      <p:sp>
        <p:nvSpPr>
          <p:cNvPr id="5" name="Text 3"/>
          <p:cNvSpPr/>
          <p:nvPr/>
        </p:nvSpPr>
        <p:spPr>
          <a:xfrm>
            <a:off x="655168" y="2578608"/>
            <a:ext cx="1600200" cy="320040"/>
          </a:xfrm>
          <a:prstGeom prst="rect">
            <a:avLst/>
          </a:prstGeom>
          <a:noFill/>
          <a:ln/>
        </p:spPr>
        <p:txBody>
          <a:bodyPr wrap="square" lIns="0" tIns="0" rIns="0" bIns="0" rtlCol="0" anchor="ctr"/>
          <a:lstStyle/>
          <a:p>
            <a:pPr algn="ctr" indent="0" marL="0">
              <a:buNone/>
            </a:pPr>
            <a:r>
              <a:rPr lang="en-US" sz="1500" b="1" dirty="0">
                <a:solidFill>
                  <a:srgbClr val="F2B705"/>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728320" y="2926080"/>
            <a:ext cx="1453896" cy="822960"/>
          </a:xfrm>
          <a:prstGeom prst="rect">
            <a:avLst/>
          </a:prstGeom>
          <a:noFill/>
          <a:ln/>
        </p:spPr>
        <p:txBody>
          <a:bodyPr wrap="square" lIns="0" tIns="0" rIns="0" bIns="0" rtlCol="0" anchor="t"/>
          <a:lstStyle/>
          <a:p>
            <a:pPr algn="ctr" indent="0" marL="0">
              <a:lnSpc>
                <a:spcPct val="115000"/>
              </a:lnSpc>
              <a:buNone/>
            </a:pPr>
            <a:r>
              <a:rPr lang="en-US" sz="1100" b="1" dirty="0">
                <a:solidFill>
                  <a:srgbClr val="FFFFFF"/>
                </a:solidFill>
                <a:latin typeface="Calibri" pitchFamily="34" charset="0"/>
                <a:ea typeface="Calibri" pitchFamily="34" charset="-122"/>
                <a:cs typeface="Calibri" pitchFamily="34" charset="-120"/>
              </a:rPr>
              <a:t>Request</a:t>
            </a:r>
            <a:endParaRPr lang="en-US" sz="1100" dirty="0"/>
          </a:p>
          <a:p>
            <a:pPr algn="ctr" indent="0" marL="0">
              <a:lnSpc>
                <a:spcPct val="115000"/>
              </a:lnSpc>
              <a:buNone/>
            </a:pPr>
            <a:r>
              <a:rPr lang="en-US" sz="1100" b="1" dirty="0">
                <a:solidFill>
                  <a:srgbClr val="FFFFFF"/>
                </a:solidFill>
                <a:latin typeface="Calibri" pitchFamily="34" charset="0"/>
                <a:ea typeface="Calibri" pitchFamily="34" charset="-122"/>
                <a:cs typeface="Calibri" pitchFamily="34" charset="-120"/>
              </a:rPr>
              <a:t>(Telegram)</a:t>
            </a:r>
            <a:endParaRPr lang="en-US" sz="1100" dirty="0"/>
          </a:p>
        </p:txBody>
      </p:sp>
      <p:sp>
        <p:nvSpPr>
          <p:cNvPr id="7" name="Shape 5"/>
          <p:cNvSpPr/>
          <p:nvPr/>
        </p:nvSpPr>
        <p:spPr>
          <a:xfrm>
            <a:off x="2255368" y="3154680"/>
            <a:ext cx="256032" cy="0"/>
          </a:xfrm>
          <a:prstGeom prst="line">
            <a:avLst/>
          </a:prstGeom>
          <a:noFill/>
          <a:ln w="22225">
            <a:solidFill>
              <a:srgbClr val="1E2761"/>
            </a:solidFill>
            <a:prstDash val="solid"/>
            <a:tailEnd type="triangle"/>
          </a:ln>
        </p:spPr>
      </p:sp>
      <p:sp>
        <p:nvSpPr>
          <p:cNvPr id="8" name="Shape 6"/>
          <p:cNvSpPr/>
          <p:nvPr/>
        </p:nvSpPr>
        <p:spPr>
          <a:xfrm>
            <a:off x="2511400" y="2468880"/>
            <a:ext cx="1600200" cy="1371600"/>
          </a:xfrm>
          <a:prstGeom prst="roundRect">
            <a:avLst>
              <a:gd name="adj" fmla="val 5333"/>
            </a:avLst>
          </a:prstGeom>
          <a:solidFill>
            <a:srgbClr val="5A6B8C"/>
          </a:solidFill>
          <a:ln/>
        </p:spPr>
      </p:sp>
      <p:sp>
        <p:nvSpPr>
          <p:cNvPr id="9" name="Text 7"/>
          <p:cNvSpPr/>
          <p:nvPr/>
        </p:nvSpPr>
        <p:spPr>
          <a:xfrm>
            <a:off x="2511400" y="2578608"/>
            <a:ext cx="1600200" cy="320040"/>
          </a:xfrm>
          <a:prstGeom prst="rect">
            <a:avLst/>
          </a:prstGeom>
          <a:noFill/>
          <a:ln/>
        </p:spPr>
        <p:txBody>
          <a:bodyPr wrap="square" lIns="0" tIns="0" rIns="0" bIns="0" rtlCol="0" anchor="ctr"/>
          <a:lstStyle/>
          <a:p>
            <a:pPr algn="ctr" indent="0" marL="0">
              <a:buNone/>
            </a:pPr>
            <a:r>
              <a:rPr lang="en-US" sz="1500" b="1" dirty="0">
                <a:solidFill>
                  <a:srgbClr val="F2B705"/>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2584552" y="2926080"/>
            <a:ext cx="1453896" cy="822960"/>
          </a:xfrm>
          <a:prstGeom prst="rect">
            <a:avLst/>
          </a:prstGeom>
          <a:noFill/>
          <a:ln/>
        </p:spPr>
        <p:txBody>
          <a:bodyPr wrap="square" lIns="0" tIns="0" rIns="0" bIns="0" rtlCol="0" anchor="t"/>
          <a:lstStyle/>
          <a:p>
            <a:pPr algn="ctr" indent="0" marL="0">
              <a:lnSpc>
                <a:spcPct val="115000"/>
              </a:lnSpc>
              <a:buNone/>
            </a:pPr>
            <a:r>
              <a:rPr lang="en-US" sz="1100" b="1" dirty="0">
                <a:solidFill>
                  <a:srgbClr val="FFFFFF"/>
                </a:solidFill>
                <a:latin typeface="Calibri" pitchFamily="34" charset="0"/>
                <a:ea typeface="Calibri" pitchFamily="34" charset="-122"/>
                <a:cs typeface="Calibri" pitchFamily="34" charset="-120"/>
              </a:rPr>
              <a:t>Discover</a:t>
            </a:r>
            <a:endParaRPr lang="en-US" sz="1100" dirty="0"/>
          </a:p>
          <a:p>
            <a:pPr algn="ctr" indent="0" marL="0">
              <a:lnSpc>
                <a:spcPct val="115000"/>
              </a:lnSpc>
              <a:buNone/>
            </a:pPr>
            <a:r>
              <a:rPr lang="en-US" sz="1100" b="1" dirty="0">
                <a:solidFill>
                  <a:srgbClr val="FFFFFF"/>
                </a:solidFill>
                <a:latin typeface="Calibri" pitchFamily="34" charset="0"/>
                <a:ea typeface="Calibri" pitchFamily="34" charset="-122"/>
                <a:cs typeface="Calibri" pitchFamily="34" charset="-120"/>
              </a:rPr>
              <a:t>(Apify)</a:t>
            </a:r>
            <a:endParaRPr lang="en-US" sz="1100" dirty="0"/>
          </a:p>
        </p:txBody>
      </p:sp>
      <p:sp>
        <p:nvSpPr>
          <p:cNvPr id="11" name="Shape 9"/>
          <p:cNvSpPr/>
          <p:nvPr/>
        </p:nvSpPr>
        <p:spPr>
          <a:xfrm>
            <a:off x="4111600" y="3154680"/>
            <a:ext cx="256032" cy="0"/>
          </a:xfrm>
          <a:prstGeom prst="line">
            <a:avLst/>
          </a:prstGeom>
          <a:noFill/>
          <a:ln w="22225">
            <a:solidFill>
              <a:srgbClr val="1E2761"/>
            </a:solidFill>
            <a:prstDash val="solid"/>
            <a:tailEnd type="triangle"/>
          </a:ln>
        </p:spPr>
      </p:sp>
      <p:sp>
        <p:nvSpPr>
          <p:cNvPr id="12" name="Shape 10"/>
          <p:cNvSpPr/>
          <p:nvPr/>
        </p:nvSpPr>
        <p:spPr>
          <a:xfrm>
            <a:off x="4367632" y="2468880"/>
            <a:ext cx="1600200" cy="1371600"/>
          </a:xfrm>
          <a:prstGeom prst="roundRect">
            <a:avLst>
              <a:gd name="adj" fmla="val 5333"/>
            </a:avLst>
          </a:prstGeom>
          <a:solidFill>
            <a:srgbClr val="1E2761"/>
          </a:solidFill>
          <a:ln/>
        </p:spPr>
      </p:sp>
      <p:sp>
        <p:nvSpPr>
          <p:cNvPr id="13" name="Text 11"/>
          <p:cNvSpPr/>
          <p:nvPr/>
        </p:nvSpPr>
        <p:spPr>
          <a:xfrm>
            <a:off x="4367632" y="2578608"/>
            <a:ext cx="1600200" cy="320040"/>
          </a:xfrm>
          <a:prstGeom prst="rect">
            <a:avLst/>
          </a:prstGeom>
          <a:noFill/>
          <a:ln/>
        </p:spPr>
        <p:txBody>
          <a:bodyPr wrap="square" lIns="0" tIns="0" rIns="0" bIns="0" rtlCol="0" anchor="ctr"/>
          <a:lstStyle/>
          <a:p>
            <a:pPr algn="ctr" indent="0" marL="0">
              <a:buNone/>
            </a:pPr>
            <a:r>
              <a:rPr lang="en-US" sz="1500" b="1" dirty="0">
                <a:solidFill>
                  <a:srgbClr val="F2B705"/>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4440784" y="2926080"/>
            <a:ext cx="1453896" cy="822960"/>
          </a:xfrm>
          <a:prstGeom prst="rect">
            <a:avLst/>
          </a:prstGeom>
          <a:noFill/>
          <a:ln/>
        </p:spPr>
        <p:txBody>
          <a:bodyPr wrap="square" lIns="0" tIns="0" rIns="0" bIns="0" rtlCol="0" anchor="t"/>
          <a:lstStyle/>
          <a:p>
            <a:pPr algn="ctr" indent="0" marL="0">
              <a:lnSpc>
                <a:spcPct val="115000"/>
              </a:lnSpc>
              <a:buNone/>
            </a:pPr>
            <a:r>
              <a:rPr lang="en-US" sz="1100" b="1" dirty="0">
                <a:solidFill>
                  <a:srgbClr val="FFFFFF"/>
                </a:solidFill>
                <a:latin typeface="Calibri" pitchFamily="34" charset="0"/>
                <a:ea typeface="Calibri" pitchFamily="34" charset="-122"/>
                <a:cs typeface="Calibri" pitchFamily="34" charset="-120"/>
              </a:rPr>
              <a:t>Extract</a:t>
            </a:r>
            <a:endParaRPr lang="en-US" sz="1100" dirty="0"/>
          </a:p>
          <a:p>
            <a:pPr algn="ctr" indent="0" marL="0">
              <a:lnSpc>
                <a:spcPct val="115000"/>
              </a:lnSpc>
              <a:buNone/>
            </a:pPr>
            <a:r>
              <a:rPr lang="en-US" sz="1100" b="1" dirty="0">
                <a:solidFill>
                  <a:srgbClr val="FFFFFF"/>
                </a:solidFill>
                <a:latin typeface="Calibri" pitchFamily="34" charset="0"/>
                <a:ea typeface="Calibri" pitchFamily="34" charset="-122"/>
                <a:cs typeface="Calibri" pitchFamily="34" charset="-120"/>
              </a:rPr>
              <a:t>Insights</a:t>
            </a:r>
            <a:endParaRPr lang="en-US" sz="1100" dirty="0"/>
          </a:p>
        </p:txBody>
      </p:sp>
      <p:sp>
        <p:nvSpPr>
          <p:cNvPr id="15" name="Shape 13"/>
          <p:cNvSpPr/>
          <p:nvPr/>
        </p:nvSpPr>
        <p:spPr>
          <a:xfrm>
            <a:off x="5967832" y="3154680"/>
            <a:ext cx="256032" cy="0"/>
          </a:xfrm>
          <a:prstGeom prst="line">
            <a:avLst/>
          </a:prstGeom>
          <a:noFill/>
          <a:ln w="22225">
            <a:solidFill>
              <a:srgbClr val="1E2761"/>
            </a:solidFill>
            <a:prstDash val="solid"/>
            <a:tailEnd type="triangle"/>
          </a:ln>
        </p:spPr>
      </p:sp>
      <p:sp>
        <p:nvSpPr>
          <p:cNvPr id="16" name="Shape 14"/>
          <p:cNvSpPr/>
          <p:nvPr/>
        </p:nvSpPr>
        <p:spPr>
          <a:xfrm>
            <a:off x="6223864" y="2468880"/>
            <a:ext cx="1600200" cy="1371600"/>
          </a:xfrm>
          <a:prstGeom prst="roundRect">
            <a:avLst>
              <a:gd name="adj" fmla="val 5333"/>
            </a:avLst>
          </a:prstGeom>
          <a:solidFill>
            <a:srgbClr val="5A6B8C"/>
          </a:solidFill>
          <a:ln/>
        </p:spPr>
      </p:sp>
      <p:sp>
        <p:nvSpPr>
          <p:cNvPr id="17" name="Text 15"/>
          <p:cNvSpPr/>
          <p:nvPr/>
        </p:nvSpPr>
        <p:spPr>
          <a:xfrm>
            <a:off x="6223864" y="2578608"/>
            <a:ext cx="1600200" cy="320040"/>
          </a:xfrm>
          <a:prstGeom prst="rect">
            <a:avLst/>
          </a:prstGeom>
          <a:noFill/>
          <a:ln/>
        </p:spPr>
        <p:txBody>
          <a:bodyPr wrap="square" lIns="0" tIns="0" rIns="0" bIns="0" rtlCol="0" anchor="ctr"/>
          <a:lstStyle/>
          <a:p>
            <a:pPr algn="ctr" indent="0" marL="0">
              <a:buNone/>
            </a:pPr>
            <a:r>
              <a:rPr lang="en-US" sz="1500" b="1" dirty="0">
                <a:solidFill>
                  <a:srgbClr val="F2B705"/>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6297016" y="2926080"/>
            <a:ext cx="1453896" cy="822960"/>
          </a:xfrm>
          <a:prstGeom prst="rect">
            <a:avLst/>
          </a:prstGeom>
          <a:noFill/>
          <a:ln/>
        </p:spPr>
        <p:txBody>
          <a:bodyPr wrap="square" lIns="0" tIns="0" rIns="0" bIns="0" rtlCol="0" anchor="t"/>
          <a:lstStyle/>
          <a:p>
            <a:pPr algn="ctr" indent="0" marL="0">
              <a:lnSpc>
                <a:spcPct val="115000"/>
              </a:lnSpc>
              <a:buNone/>
            </a:pPr>
            <a:r>
              <a:rPr lang="en-US" sz="1100" b="1" dirty="0">
                <a:solidFill>
                  <a:srgbClr val="FFFFFF"/>
                </a:solidFill>
                <a:latin typeface="Calibri" pitchFamily="34" charset="0"/>
                <a:ea typeface="Calibri" pitchFamily="34" charset="-122"/>
                <a:cs typeface="Calibri" pitchFamily="34" charset="-120"/>
              </a:rPr>
              <a:t>Generate</a:t>
            </a:r>
            <a:endParaRPr lang="en-US" sz="1100" dirty="0"/>
          </a:p>
          <a:p>
            <a:pPr algn="ctr" indent="0" marL="0">
              <a:lnSpc>
                <a:spcPct val="115000"/>
              </a:lnSpc>
              <a:buNone/>
            </a:pPr>
            <a:r>
              <a:rPr lang="en-US" sz="1100" b="1" dirty="0">
                <a:solidFill>
                  <a:srgbClr val="FFFFFF"/>
                </a:solidFill>
                <a:latin typeface="Calibri" pitchFamily="34" charset="0"/>
                <a:ea typeface="Calibri" pitchFamily="34" charset="-122"/>
                <a:cs typeface="Calibri" pitchFamily="34" charset="-120"/>
              </a:rPr>
              <a:t>Script</a:t>
            </a:r>
            <a:endParaRPr lang="en-US" sz="1100" dirty="0"/>
          </a:p>
        </p:txBody>
      </p:sp>
      <p:sp>
        <p:nvSpPr>
          <p:cNvPr id="19" name="Shape 17"/>
          <p:cNvSpPr/>
          <p:nvPr/>
        </p:nvSpPr>
        <p:spPr>
          <a:xfrm>
            <a:off x="7824064" y="3154680"/>
            <a:ext cx="256032" cy="0"/>
          </a:xfrm>
          <a:prstGeom prst="line">
            <a:avLst/>
          </a:prstGeom>
          <a:noFill/>
          <a:ln w="22225">
            <a:solidFill>
              <a:srgbClr val="1E2761"/>
            </a:solidFill>
            <a:prstDash val="solid"/>
            <a:tailEnd type="triangle"/>
          </a:ln>
        </p:spPr>
      </p:sp>
      <p:sp>
        <p:nvSpPr>
          <p:cNvPr id="20" name="Shape 18"/>
          <p:cNvSpPr/>
          <p:nvPr/>
        </p:nvSpPr>
        <p:spPr>
          <a:xfrm>
            <a:off x="8080096" y="2468880"/>
            <a:ext cx="1600200" cy="1371600"/>
          </a:xfrm>
          <a:prstGeom prst="roundRect">
            <a:avLst>
              <a:gd name="adj" fmla="val 5333"/>
            </a:avLst>
          </a:prstGeom>
          <a:solidFill>
            <a:srgbClr val="1E2761"/>
          </a:solidFill>
          <a:ln/>
        </p:spPr>
      </p:sp>
      <p:sp>
        <p:nvSpPr>
          <p:cNvPr id="21" name="Text 19"/>
          <p:cNvSpPr/>
          <p:nvPr/>
        </p:nvSpPr>
        <p:spPr>
          <a:xfrm>
            <a:off x="8080096" y="2578608"/>
            <a:ext cx="1600200" cy="320040"/>
          </a:xfrm>
          <a:prstGeom prst="rect">
            <a:avLst/>
          </a:prstGeom>
          <a:noFill/>
          <a:ln/>
        </p:spPr>
        <p:txBody>
          <a:bodyPr wrap="square" lIns="0" tIns="0" rIns="0" bIns="0" rtlCol="0" anchor="ctr"/>
          <a:lstStyle/>
          <a:p>
            <a:pPr algn="ctr" indent="0" marL="0">
              <a:buNone/>
            </a:pPr>
            <a:r>
              <a:rPr lang="en-US" sz="1500" b="1" dirty="0">
                <a:solidFill>
                  <a:srgbClr val="F2B705"/>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8153248" y="2926080"/>
            <a:ext cx="1453896" cy="822960"/>
          </a:xfrm>
          <a:prstGeom prst="rect">
            <a:avLst/>
          </a:prstGeom>
          <a:noFill/>
          <a:ln/>
        </p:spPr>
        <p:txBody>
          <a:bodyPr wrap="square" lIns="0" tIns="0" rIns="0" bIns="0" rtlCol="0" anchor="t"/>
          <a:lstStyle/>
          <a:p>
            <a:pPr algn="ctr" indent="0" marL="0">
              <a:lnSpc>
                <a:spcPct val="115000"/>
              </a:lnSpc>
              <a:buNone/>
            </a:pPr>
            <a:r>
              <a:rPr lang="en-US" sz="1100" b="1" dirty="0">
                <a:solidFill>
                  <a:srgbClr val="FFFFFF"/>
                </a:solidFill>
                <a:latin typeface="Calibri" pitchFamily="34" charset="0"/>
                <a:ea typeface="Calibri" pitchFamily="34" charset="-122"/>
                <a:cs typeface="Calibri" pitchFamily="34" charset="-120"/>
              </a:rPr>
              <a:t>Render</a:t>
            </a:r>
            <a:endParaRPr lang="en-US" sz="1100" dirty="0"/>
          </a:p>
          <a:p>
            <a:pPr algn="ctr" indent="0" marL="0">
              <a:lnSpc>
                <a:spcPct val="115000"/>
              </a:lnSpc>
              <a:buNone/>
            </a:pPr>
            <a:r>
              <a:rPr lang="en-US" sz="1100" b="1" dirty="0">
                <a:solidFill>
                  <a:srgbClr val="FFFFFF"/>
                </a:solidFill>
                <a:latin typeface="Calibri" pitchFamily="34" charset="0"/>
                <a:ea typeface="Calibri" pitchFamily="34" charset="-122"/>
                <a:cs typeface="Calibri" pitchFamily="34" charset="-120"/>
              </a:rPr>
              <a:t>Video</a:t>
            </a:r>
            <a:endParaRPr lang="en-US" sz="1100" dirty="0"/>
          </a:p>
        </p:txBody>
      </p:sp>
      <p:sp>
        <p:nvSpPr>
          <p:cNvPr id="23" name="Shape 21"/>
          <p:cNvSpPr/>
          <p:nvPr/>
        </p:nvSpPr>
        <p:spPr>
          <a:xfrm>
            <a:off x="9680296" y="3154680"/>
            <a:ext cx="256032" cy="0"/>
          </a:xfrm>
          <a:prstGeom prst="line">
            <a:avLst/>
          </a:prstGeom>
          <a:noFill/>
          <a:ln w="22225">
            <a:solidFill>
              <a:srgbClr val="1E2761"/>
            </a:solidFill>
            <a:prstDash val="solid"/>
            <a:tailEnd type="triangle"/>
          </a:ln>
        </p:spPr>
      </p:sp>
      <p:sp>
        <p:nvSpPr>
          <p:cNvPr id="24" name="Shape 22"/>
          <p:cNvSpPr/>
          <p:nvPr/>
        </p:nvSpPr>
        <p:spPr>
          <a:xfrm>
            <a:off x="9936328" y="2468880"/>
            <a:ext cx="1600200" cy="1371600"/>
          </a:xfrm>
          <a:prstGeom prst="roundRect">
            <a:avLst>
              <a:gd name="adj" fmla="val 5333"/>
            </a:avLst>
          </a:prstGeom>
          <a:solidFill>
            <a:srgbClr val="5A6B8C"/>
          </a:solidFill>
          <a:ln/>
        </p:spPr>
      </p:sp>
      <p:sp>
        <p:nvSpPr>
          <p:cNvPr id="25" name="Text 23"/>
          <p:cNvSpPr/>
          <p:nvPr/>
        </p:nvSpPr>
        <p:spPr>
          <a:xfrm>
            <a:off x="9936328" y="2578608"/>
            <a:ext cx="1600200" cy="320040"/>
          </a:xfrm>
          <a:prstGeom prst="rect">
            <a:avLst/>
          </a:prstGeom>
          <a:noFill/>
          <a:ln/>
        </p:spPr>
        <p:txBody>
          <a:bodyPr wrap="square" lIns="0" tIns="0" rIns="0" bIns="0" rtlCol="0" anchor="ctr"/>
          <a:lstStyle/>
          <a:p>
            <a:pPr algn="ctr" indent="0" marL="0">
              <a:buNone/>
            </a:pPr>
            <a:r>
              <a:rPr lang="en-US" sz="1500" b="1" dirty="0">
                <a:solidFill>
                  <a:srgbClr val="F2B705"/>
                </a:solidFill>
                <a:latin typeface="Calibri" pitchFamily="34" charset="0"/>
                <a:ea typeface="Calibri" pitchFamily="34" charset="-122"/>
                <a:cs typeface="Calibri" pitchFamily="34" charset="-120"/>
              </a:rPr>
              <a:t>6</a:t>
            </a:r>
            <a:endParaRPr lang="en-US" sz="1500" dirty="0"/>
          </a:p>
        </p:txBody>
      </p:sp>
      <p:sp>
        <p:nvSpPr>
          <p:cNvPr id="26" name="Text 24"/>
          <p:cNvSpPr/>
          <p:nvPr/>
        </p:nvSpPr>
        <p:spPr>
          <a:xfrm>
            <a:off x="10009480" y="2926080"/>
            <a:ext cx="1453896" cy="822960"/>
          </a:xfrm>
          <a:prstGeom prst="rect">
            <a:avLst/>
          </a:prstGeom>
          <a:noFill/>
          <a:ln/>
        </p:spPr>
        <p:txBody>
          <a:bodyPr wrap="square" lIns="0" tIns="0" rIns="0" bIns="0" rtlCol="0" anchor="t"/>
          <a:lstStyle/>
          <a:p>
            <a:pPr algn="ctr" indent="0" marL="0">
              <a:lnSpc>
                <a:spcPct val="115000"/>
              </a:lnSpc>
              <a:buNone/>
            </a:pPr>
            <a:r>
              <a:rPr lang="en-US" sz="1100" b="1" dirty="0">
                <a:solidFill>
                  <a:srgbClr val="FFFFFF"/>
                </a:solidFill>
                <a:latin typeface="Calibri" pitchFamily="34" charset="0"/>
                <a:ea typeface="Calibri" pitchFamily="34" charset="-122"/>
                <a:cs typeface="Calibri" pitchFamily="34" charset="-120"/>
              </a:rPr>
              <a:t>Deliver</a:t>
            </a:r>
            <a:endParaRPr lang="en-US" sz="1100" dirty="0"/>
          </a:p>
          <a:p>
            <a:pPr algn="ctr" indent="0" marL="0">
              <a:lnSpc>
                <a:spcPct val="115000"/>
              </a:lnSpc>
              <a:buNone/>
            </a:pPr>
            <a:r>
              <a:rPr lang="en-US" sz="1100" b="1" dirty="0">
                <a:solidFill>
                  <a:srgbClr val="FFFFFF"/>
                </a:solidFill>
                <a:latin typeface="Calibri" pitchFamily="34" charset="0"/>
                <a:ea typeface="Calibri" pitchFamily="34" charset="-122"/>
                <a:cs typeface="Calibri" pitchFamily="34" charset="-120"/>
              </a:rPr>
              <a:t>(Telegram)</a:t>
            </a:r>
            <a:endParaRPr lang="en-US" sz="1100" dirty="0"/>
          </a:p>
        </p:txBody>
      </p:sp>
      <p:sp>
        <p:nvSpPr>
          <p:cNvPr id="27" name="Text 25"/>
          <p:cNvSpPr/>
          <p:nvPr/>
        </p:nvSpPr>
        <p:spPr>
          <a:xfrm>
            <a:off x="914400" y="4434840"/>
            <a:ext cx="10332720" cy="640080"/>
          </a:xfrm>
          <a:prstGeom prst="rect">
            <a:avLst/>
          </a:prstGeom>
          <a:noFill/>
          <a:ln/>
        </p:spPr>
        <p:txBody>
          <a:bodyPr wrap="square" lIns="0" tIns="0" rIns="0" bIns="0" rtlCol="0" anchor="ctr"/>
          <a:lstStyle/>
          <a:p>
            <a:pPr algn="ctr" indent="0" marL="0">
              <a:lnSpc>
                <a:spcPct val="130000"/>
              </a:lnSpc>
              <a:buNone/>
            </a:pPr>
            <a:r>
              <a:rPr lang="en-US" sz="1250" dirty="0">
                <a:solidFill>
                  <a:srgbClr val="1B2340"/>
                </a:solidFill>
                <a:latin typeface="Calibri" pitchFamily="34" charset="0"/>
                <a:ea typeface="Calibri" pitchFamily="34" charset="-122"/>
                <a:cs typeface="Calibri" pitchFamily="34" charset="-120"/>
              </a:rPr>
              <a:t>The Orchestrator Agent supervises every stage, persisting intermediate state to SQLite and validating payloads with Pydantic models before handoff to the next agent.</a:t>
            </a:r>
            <a:endParaRPr lang="en-US" sz="1250" dirty="0"/>
          </a:p>
        </p:txBody>
      </p:sp>
      <p:sp>
        <p:nvSpPr>
          <p:cNvPr id="28" name="Shape 26"/>
          <p:cNvSpPr/>
          <p:nvPr/>
        </p:nvSpPr>
        <p:spPr>
          <a:xfrm>
            <a:off x="1463040" y="5257800"/>
            <a:ext cx="9235440" cy="1051560"/>
          </a:xfrm>
          <a:prstGeom prst="roundRect">
            <a:avLst>
              <a:gd name="adj" fmla="val 6957"/>
            </a:avLst>
          </a:prstGeom>
          <a:solidFill>
            <a:srgbClr val="F7F9FC"/>
          </a:solidFill>
          <a:ln w="12700">
            <a:solidFill>
              <a:srgbClr val="CADCFC"/>
            </a:solidFill>
            <a:prstDash val="solid"/>
          </a:ln>
        </p:spPr>
      </p:sp>
      <p:sp>
        <p:nvSpPr>
          <p:cNvPr id="29" name="Text 27"/>
          <p:cNvSpPr/>
          <p:nvPr/>
        </p:nvSpPr>
        <p:spPr>
          <a:xfrm>
            <a:off x="1737360" y="5394960"/>
            <a:ext cx="8686800" cy="822960"/>
          </a:xfrm>
          <a:prstGeom prst="rect">
            <a:avLst/>
          </a:prstGeom>
          <a:noFill/>
          <a:ln/>
        </p:spPr>
        <p:txBody>
          <a:bodyPr wrap="square" lIns="0" tIns="0" rIns="0" bIns="0" rtlCol="0" anchor="ctr"/>
          <a:lstStyle/>
          <a:p>
            <a:pPr indent="0" marL="0">
              <a:lnSpc>
                <a:spcPct val="125000"/>
              </a:lnSpc>
              <a:buNone/>
            </a:pPr>
            <a:r>
              <a:rPr lang="en-US" sz="1100" i="1" dirty="0">
                <a:solidFill>
                  <a:srgbClr val="1E2761"/>
                </a:solidFill>
                <a:latin typeface="Calibri" pitchFamily="34" charset="0"/>
                <a:ea typeface="Calibri" pitchFamily="34" charset="-122"/>
                <a:cs typeface="Calibri" pitchFamily="34" charset="-120"/>
              </a:rPr>
              <a:t>Failure handling: any stage that errors is retried per agent-level policy; unrecoverable failures are logged and surfaced back to the requesting Telegram user with a clear status message.</a:t>
            </a:r>
            <a:endParaRPr lang="en-US" sz="1100" dirty="0"/>
          </a:p>
        </p:txBody>
      </p:sp>
      <p:sp>
        <p:nvSpPr>
          <p:cNvPr id="30" name="Text 28"/>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CrowdWisdomTrading  |  Hermes Marketing Agents</a:t>
            </a:r>
            <a:endParaRPr lang="en-US" sz="900" dirty="0"/>
          </a:p>
        </p:txBody>
      </p:sp>
      <p:sp>
        <p:nvSpPr>
          <p:cNvPr id="31" name="Text 2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AI Models via OpenRouter</a:t>
            </a:r>
            <a:endParaRPr lang="en-US" sz="3200" dirty="0"/>
          </a:p>
        </p:txBody>
      </p:sp>
      <p:sp>
        <p:nvSpPr>
          <p:cNvPr id="3" name="Text 1"/>
          <p:cNvSpPr/>
          <p:nvPr/>
        </p:nvSpPr>
        <p:spPr>
          <a:xfrm>
            <a:off x="548640" y="1051560"/>
            <a:ext cx="10058400" cy="365760"/>
          </a:xfrm>
          <a:prstGeom prst="rect">
            <a:avLst/>
          </a:prstGeom>
          <a:noFill/>
          <a:ln/>
        </p:spPr>
        <p:txBody>
          <a:bodyPr wrap="square" lIns="0" tIns="0" rIns="0" bIns="0" rtlCol="0" anchor="ctr"/>
          <a:lstStyle/>
          <a:p>
            <a:pPr indent="0" marL="0">
              <a:buNone/>
            </a:pPr>
            <a:r>
              <a:rPr lang="en-US" sz="1300" i="1" dirty="0">
                <a:solidFill>
                  <a:srgbClr val="5A6B8C"/>
                </a:solidFill>
                <a:latin typeface="Calibri" pitchFamily="34" charset="0"/>
                <a:ea typeface="Calibri" pitchFamily="34" charset="-122"/>
                <a:cs typeface="Calibri" pitchFamily="34" charset="-120"/>
              </a:rPr>
              <a:t>Model routing strategy for reasoning, extraction, and generation tasks</a:t>
            </a:r>
            <a:endParaRPr lang="en-US" sz="1300" dirty="0"/>
          </a:p>
        </p:txBody>
      </p:sp>
      <p:sp>
        <p:nvSpPr>
          <p:cNvPr id="4" name="Shape 2"/>
          <p:cNvSpPr/>
          <p:nvPr/>
        </p:nvSpPr>
        <p:spPr>
          <a:xfrm>
            <a:off x="548640" y="1828800"/>
            <a:ext cx="5394960" cy="4206240"/>
          </a:xfrm>
          <a:prstGeom prst="roundRect">
            <a:avLst>
              <a:gd name="adj" fmla="val 1739"/>
            </a:avLst>
          </a:prstGeom>
          <a:solidFill>
            <a:srgbClr val="FFFFFF"/>
          </a:solidFill>
          <a:ln/>
          <a:effectLst>
            <a:outerShdw sx="100000" sy="100000" kx="0" ky="0" algn="bl" rotWithShape="0" blurRad="76200" dist="25400" dir="5400000">
              <a:srgbClr val="1B2340">
                <a:alpha val="16000"/>
              </a:srgbClr>
            </a:outerShdw>
          </a:effectLst>
        </p:spPr>
      </p:sp>
      <p:sp>
        <p:nvSpPr>
          <p:cNvPr id="5" name="Text 3"/>
          <p:cNvSpPr/>
          <p:nvPr/>
        </p:nvSpPr>
        <p:spPr>
          <a:xfrm>
            <a:off x="914400" y="2057400"/>
            <a:ext cx="475488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Why OpenRouter</a:t>
            </a:r>
            <a:endParaRPr lang="en-US" sz="1500" dirty="0"/>
          </a:p>
        </p:txBody>
      </p:sp>
      <p:sp>
        <p:nvSpPr>
          <p:cNvPr id="6" name="Text 4"/>
          <p:cNvSpPr/>
          <p:nvPr/>
        </p:nvSpPr>
        <p:spPr>
          <a:xfrm>
            <a:off x="914400" y="2468880"/>
            <a:ext cx="4754880" cy="3291840"/>
          </a:xfrm>
          <a:prstGeom prst="rect">
            <a:avLst/>
          </a:prstGeom>
          <a:noFill/>
          <a:ln/>
        </p:spPr>
        <p:txBody>
          <a:bodyPr wrap="square" lIns="0" tIns="0" rIns="0" bIns="0" rtlCol="0" anchor="t"/>
          <a:lstStyle/>
          <a:p>
            <a:pPr marL="342900" indent="-342900">
              <a:spcAft>
                <a:spcPts val="1200"/>
              </a:spcAft>
              <a:buSzPct val="100000"/>
              <a:buChar char="•"/>
            </a:pPr>
            <a:r>
              <a:rPr lang="en-US" sz="1200" dirty="0">
                <a:solidFill>
                  <a:srgbClr val="1B2340"/>
                </a:solidFill>
                <a:latin typeface="Calibri" pitchFamily="34" charset="0"/>
                <a:ea typeface="Calibri" pitchFamily="34" charset="-122"/>
                <a:cs typeface="Calibri" pitchFamily="34" charset="-120"/>
              </a:rPr>
              <a:t>Single API surface across multiple LLM providers</a:t>
            </a:r>
            <a:endParaRPr lang="en-US" sz="1200" dirty="0"/>
          </a:p>
          <a:p>
            <a:pPr marL="342900" indent="-342900">
              <a:spcAft>
                <a:spcPts val="1200"/>
              </a:spcAft>
              <a:buSzPct val="100000"/>
              <a:buChar char="•"/>
            </a:pPr>
            <a:r>
              <a:rPr lang="en-US" sz="1200" dirty="0">
                <a:solidFill>
                  <a:srgbClr val="1B2340"/>
                </a:solidFill>
                <a:latin typeface="Calibri" pitchFamily="34" charset="0"/>
                <a:ea typeface="Calibri" pitchFamily="34" charset="-122"/>
                <a:cs typeface="Calibri" pitchFamily="34" charset="-120"/>
              </a:rPr>
              <a:t>Model selection can be tuned per agent and task type</a:t>
            </a:r>
            <a:endParaRPr lang="en-US" sz="1200" dirty="0"/>
          </a:p>
          <a:p>
            <a:pPr marL="342900" indent="-342900">
              <a:spcAft>
                <a:spcPts val="1200"/>
              </a:spcAft>
              <a:buSzPct val="100000"/>
              <a:buChar char="•"/>
            </a:pPr>
            <a:r>
              <a:rPr lang="en-US" sz="1200" dirty="0">
                <a:solidFill>
                  <a:srgbClr val="1B2340"/>
                </a:solidFill>
                <a:latin typeface="Calibri" pitchFamily="34" charset="0"/>
                <a:ea typeface="Calibri" pitchFamily="34" charset="-122"/>
                <a:cs typeface="Calibri" pitchFamily="34" charset="-120"/>
              </a:rPr>
              <a:t>Centralized API-key and usage management</a:t>
            </a:r>
            <a:endParaRPr lang="en-US" sz="1200" dirty="0"/>
          </a:p>
          <a:p>
            <a:pPr marL="342900" indent="-342900">
              <a:spcAft>
                <a:spcPts val="1200"/>
              </a:spcAft>
              <a:buSzPct val="100000"/>
              <a:buChar char="•"/>
            </a:pPr>
            <a:r>
              <a:rPr lang="en-US" sz="1200" dirty="0">
                <a:solidFill>
                  <a:srgbClr val="1B2340"/>
                </a:solidFill>
                <a:latin typeface="Calibri" pitchFamily="34" charset="0"/>
                <a:ea typeface="Calibri" pitchFamily="34" charset="-122"/>
                <a:cs typeface="Calibri" pitchFamily="34" charset="-120"/>
              </a:rPr>
              <a:t>Fallback routing reduces single-provider dependency</a:t>
            </a:r>
            <a:endParaRPr lang="en-US" sz="1200" dirty="0"/>
          </a:p>
        </p:txBody>
      </p:sp>
      <p:sp>
        <p:nvSpPr>
          <p:cNvPr id="7" name="Shape 5"/>
          <p:cNvSpPr/>
          <p:nvPr/>
        </p:nvSpPr>
        <p:spPr>
          <a:xfrm>
            <a:off x="6217920" y="1828800"/>
            <a:ext cx="5422392" cy="4206240"/>
          </a:xfrm>
          <a:prstGeom prst="roundRect">
            <a:avLst>
              <a:gd name="adj" fmla="val 1739"/>
            </a:avLst>
          </a:prstGeom>
          <a:solidFill>
            <a:srgbClr val="1E2761"/>
          </a:solidFill>
          <a:ln/>
        </p:spPr>
      </p:sp>
      <p:sp>
        <p:nvSpPr>
          <p:cNvPr id="8" name="Text 6"/>
          <p:cNvSpPr/>
          <p:nvPr/>
        </p:nvSpPr>
        <p:spPr>
          <a:xfrm>
            <a:off x="6583680" y="2057400"/>
            <a:ext cx="47548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Agent → Task Mapping</a:t>
            </a:r>
            <a:endParaRPr lang="en-US" sz="1500" dirty="0"/>
          </a:p>
        </p:txBody>
      </p:sp>
      <p:sp>
        <p:nvSpPr>
          <p:cNvPr id="9" name="Text 7"/>
          <p:cNvSpPr/>
          <p:nvPr/>
        </p:nvSpPr>
        <p:spPr>
          <a:xfrm>
            <a:off x="6583680" y="2468880"/>
            <a:ext cx="4754880" cy="3291840"/>
          </a:xfrm>
          <a:prstGeom prst="rect">
            <a:avLst/>
          </a:prstGeom>
          <a:noFill/>
          <a:ln/>
        </p:spPr>
        <p:txBody>
          <a:bodyPr wrap="square" lIns="0" tIns="0" rIns="0" bIns="0" rtlCol="0" anchor="t"/>
          <a:lstStyle/>
          <a:p>
            <a:pPr marL="342900" indent="-342900">
              <a:spcAft>
                <a:spcPts val="1200"/>
              </a:spcAft>
              <a:buSzPct val="100000"/>
              <a:buChar char="•"/>
            </a:pPr>
            <a:r>
              <a:rPr lang="en-US" sz="1200" dirty="0">
                <a:solidFill>
                  <a:srgbClr val="CADCFC"/>
                </a:solidFill>
                <a:latin typeface="Calibri" pitchFamily="34" charset="0"/>
                <a:ea typeface="Calibri" pitchFamily="34" charset="-122"/>
                <a:cs typeface="Calibri" pitchFamily="34" charset="-120"/>
              </a:rPr>
              <a:t>Insight Agent  →  pattern analysis &amp; summarization</a:t>
            </a:r>
            <a:endParaRPr lang="en-US" sz="1200" dirty="0"/>
          </a:p>
          <a:p>
            <a:pPr marL="342900" indent="-342900">
              <a:spcAft>
                <a:spcPts val="1200"/>
              </a:spcAft>
              <a:buSzPct val="100000"/>
              <a:buChar char="•"/>
            </a:pPr>
            <a:r>
              <a:rPr lang="en-US" sz="1200" dirty="0">
                <a:solidFill>
                  <a:srgbClr val="CADCFC"/>
                </a:solidFill>
                <a:latin typeface="Calibri" pitchFamily="34" charset="0"/>
                <a:ea typeface="Calibri" pitchFamily="34" charset="-122"/>
                <a:cs typeface="Calibri" pitchFamily="34" charset="-120"/>
              </a:rPr>
              <a:t>Script Agent  →  creative copywriting &amp; scripting</a:t>
            </a:r>
            <a:endParaRPr lang="en-US" sz="1200" dirty="0"/>
          </a:p>
          <a:p>
            <a:pPr marL="342900" indent="-342900">
              <a:spcAft>
                <a:spcPts val="1200"/>
              </a:spcAft>
              <a:buSzPct val="100000"/>
              <a:buChar char="•"/>
            </a:pPr>
            <a:r>
              <a:rPr lang="en-US" sz="1200" dirty="0">
                <a:solidFill>
                  <a:srgbClr val="CADCFC"/>
                </a:solidFill>
                <a:latin typeface="Calibri" pitchFamily="34" charset="0"/>
                <a:ea typeface="Calibri" pitchFamily="34" charset="-122"/>
                <a:cs typeface="Calibri" pitchFamily="34" charset="-120"/>
              </a:rPr>
              <a:t>Telegram Agent  →  intent parsing of user commands</a:t>
            </a:r>
            <a:endParaRPr lang="en-US" sz="1200" dirty="0"/>
          </a:p>
          <a:p>
            <a:pPr marL="342900" indent="-342900">
              <a:spcAft>
                <a:spcPts val="1200"/>
              </a:spcAft>
              <a:buSzPct val="100000"/>
              <a:buChar char="•"/>
            </a:pPr>
            <a:r>
              <a:rPr lang="en-US" sz="1200" dirty="0">
                <a:solidFill>
                  <a:srgbClr val="CADCFC"/>
                </a:solidFill>
                <a:latin typeface="Calibri" pitchFamily="34" charset="0"/>
                <a:ea typeface="Calibri" pitchFamily="34" charset="-122"/>
                <a:cs typeface="Calibri" pitchFamily="34" charset="-120"/>
              </a:rPr>
              <a:t>Orchestrator  →  lightweight routing decisions</a:t>
            </a:r>
            <a:endParaRPr lang="en-US" sz="1200" dirty="0"/>
          </a:p>
        </p:txBody>
      </p:sp>
      <p:sp>
        <p:nvSpPr>
          <p:cNvPr id="10" name="Text 8"/>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CrowdWisdomTrading  |  Hermes Marketing Agents</a:t>
            </a:r>
            <a:endParaRPr lang="en-US" sz="900" dirty="0"/>
          </a:p>
        </p:txBody>
      </p:sp>
      <p:sp>
        <p:nvSpPr>
          <p:cNvPr id="11" name="Text 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Apify Integration</a:t>
            </a:r>
            <a:endParaRPr lang="en-US" sz="3200" dirty="0"/>
          </a:p>
        </p:txBody>
      </p:sp>
      <p:sp>
        <p:nvSpPr>
          <p:cNvPr id="3" name="Text 1"/>
          <p:cNvSpPr/>
          <p:nvPr/>
        </p:nvSpPr>
        <p:spPr>
          <a:xfrm>
            <a:off x="548640" y="1051560"/>
            <a:ext cx="9144000" cy="365760"/>
          </a:xfrm>
          <a:prstGeom prst="rect">
            <a:avLst/>
          </a:prstGeom>
          <a:noFill/>
          <a:ln/>
        </p:spPr>
        <p:txBody>
          <a:bodyPr wrap="square" lIns="0" tIns="0" rIns="0" bIns="0" rtlCol="0" anchor="ctr"/>
          <a:lstStyle/>
          <a:p>
            <a:pPr indent="0" marL="0">
              <a:buNone/>
            </a:pPr>
            <a:r>
              <a:rPr lang="en-US" sz="1300" i="1" dirty="0">
                <a:solidFill>
                  <a:srgbClr val="5A6B8C"/>
                </a:solidFill>
                <a:latin typeface="Calibri" pitchFamily="34" charset="0"/>
                <a:ea typeface="Calibri" pitchFamily="34" charset="-122"/>
                <a:cs typeface="Calibri" pitchFamily="34" charset="-120"/>
              </a:rPr>
              <a:t>Sourcing winning Meta ads for the Discovery Agent</a:t>
            </a:r>
            <a:endParaRPr lang="en-US" sz="1300" dirty="0"/>
          </a:p>
        </p:txBody>
      </p:sp>
      <p:sp>
        <p:nvSpPr>
          <p:cNvPr id="4" name="Shape 2"/>
          <p:cNvSpPr/>
          <p:nvPr/>
        </p:nvSpPr>
        <p:spPr>
          <a:xfrm>
            <a:off x="548640" y="1828800"/>
            <a:ext cx="10881360" cy="914400"/>
          </a:xfrm>
          <a:prstGeom prst="roundRect">
            <a:avLst>
              <a:gd name="adj" fmla="val 8000"/>
            </a:avLst>
          </a:prstGeom>
          <a:solidFill>
            <a:srgbClr val="F7F9FC"/>
          </a:solidFill>
          <a:ln w="12700">
            <a:solidFill>
              <a:srgbClr val="CADCFC"/>
            </a:solidFill>
            <a:prstDash val="solid"/>
          </a:ln>
        </p:spPr>
      </p:sp>
      <p:sp>
        <p:nvSpPr>
          <p:cNvPr id="5" name="Shape 3"/>
          <p:cNvSpPr/>
          <p:nvPr/>
        </p:nvSpPr>
        <p:spPr>
          <a:xfrm>
            <a:off x="749808" y="2029968"/>
            <a:ext cx="512064" cy="512064"/>
          </a:xfrm>
          <a:prstGeom prst="ellipse">
            <a:avLst/>
          </a:prstGeom>
          <a:solidFill>
            <a:srgbClr val="F2B705"/>
          </a:solidFill>
          <a:ln/>
        </p:spPr>
      </p:sp>
      <p:sp>
        <p:nvSpPr>
          <p:cNvPr id="6" name="Text 4"/>
          <p:cNvSpPr/>
          <p:nvPr/>
        </p:nvSpPr>
        <p:spPr>
          <a:xfrm>
            <a:off x="749808" y="2029968"/>
            <a:ext cx="512064" cy="512064"/>
          </a:xfrm>
          <a:prstGeom prst="rect">
            <a:avLst/>
          </a:prstGeom>
          <a:noFill/>
          <a:ln/>
        </p:spPr>
        <p:txBody>
          <a:bodyPr wrap="square" lIns="0" tIns="0" rIns="0" bIns="0"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508760" y="1938528"/>
            <a:ext cx="292608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Configure Actor</a:t>
            </a:r>
            <a:endParaRPr lang="en-US" sz="1300" dirty="0"/>
          </a:p>
        </p:txBody>
      </p:sp>
      <p:sp>
        <p:nvSpPr>
          <p:cNvPr id="8" name="Text 6"/>
          <p:cNvSpPr/>
          <p:nvPr/>
        </p:nvSpPr>
        <p:spPr>
          <a:xfrm>
            <a:off x="1508760" y="2267712"/>
            <a:ext cx="9692640" cy="411480"/>
          </a:xfrm>
          <a:prstGeom prst="rect">
            <a:avLst/>
          </a:prstGeom>
          <a:noFill/>
          <a:ln/>
        </p:spPr>
        <p:txBody>
          <a:bodyPr wrap="square" lIns="0" tIns="0" rIns="0" bIns="0" rtlCol="0" anchor="ctr"/>
          <a:lstStyle/>
          <a:p>
            <a:pPr indent="0" marL="0">
              <a:buNone/>
            </a:pPr>
            <a:r>
              <a:rPr lang="en-US" sz="1100" dirty="0">
                <a:solidFill>
                  <a:srgbClr val="1B2340"/>
                </a:solidFill>
                <a:latin typeface="Calibri" pitchFamily="34" charset="0"/>
                <a:ea typeface="Calibri" pitchFamily="34" charset="-122"/>
                <a:cs typeface="Calibri" pitchFamily="34" charset="-120"/>
              </a:rPr>
              <a:t>Discovery Agent triggers an Apify actor targeted at the Meta Ad Library.</a:t>
            </a:r>
            <a:endParaRPr lang="en-US" sz="1100" dirty="0"/>
          </a:p>
        </p:txBody>
      </p:sp>
      <p:sp>
        <p:nvSpPr>
          <p:cNvPr id="9" name="Shape 7"/>
          <p:cNvSpPr/>
          <p:nvPr/>
        </p:nvSpPr>
        <p:spPr>
          <a:xfrm>
            <a:off x="548640" y="2944368"/>
            <a:ext cx="10881360" cy="914400"/>
          </a:xfrm>
          <a:prstGeom prst="roundRect">
            <a:avLst>
              <a:gd name="adj" fmla="val 8000"/>
            </a:avLst>
          </a:prstGeom>
          <a:solidFill>
            <a:srgbClr val="FFFFFF"/>
          </a:solidFill>
          <a:ln w="12700">
            <a:solidFill>
              <a:srgbClr val="CADCFC"/>
            </a:solidFill>
            <a:prstDash val="solid"/>
          </a:ln>
        </p:spPr>
      </p:sp>
      <p:sp>
        <p:nvSpPr>
          <p:cNvPr id="10" name="Shape 8"/>
          <p:cNvSpPr/>
          <p:nvPr/>
        </p:nvSpPr>
        <p:spPr>
          <a:xfrm>
            <a:off x="749808" y="3145536"/>
            <a:ext cx="512064" cy="512064"/>
          </a:xfrm>
          <a:prstGeom prst="ellipse">
            <a:avLst/>
          </a:prstGeom>
          <a:solidFill>
            <a:srgbClr val="F2B705"/>
          </a:solidFill>
          <a:ln/>
        </p:spPr>
      </p:sp>
      <p:sp>
        <p:nvSpPr>
          <p:cNvPr id="11" name="Text 9"/>
          <p:cNvSpPr/>
          <p:nvPr/>
        </p:nvSpPr>
        <p:spPr>
          <a:xfrm>
            <a:off x="749808" y="3145536"/>
            <a:ext cx="512064" cy="512064"/>
          </a:xfrm>
          <a:prstGeom prst="rect">
            <a:avLst/>
          </a:prstGeom>
          <a:noFill/>
          <a:ln/>
        </p:spPr>
        <p:txBody>
          <a:bodyPr wrap="square" lIns="0" tIns="0" rIns="0" bIns="0"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508760" y="3054096"/>
            <a:ext cx="292608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Run &amp; Poll</a:t>
            </a:r>
            <a:endParaRPr lang="en-US" sz="1300" dirty="0"/>
          </a:p>
        </p:txBody>
      </p:sp>
      <p:sp>
        <p:nvSpPr>
          <p:cNvPr id="13" name="Text 11"/>
          <p:cNvSpPr/>
          <p:nvPr/>
        </p:nvSpPr>
        <p:spPr>
          <a:xfrm>
            <a:off x="1508760" y="3383280"/>
            <a:ext cx="9692640" cy="411480"/>
          </a:xfrm>
          <a:prstGeom prst="rect">
            <a:avLst/>
          </a:prstGeom>
          <a:noFill/>
          <a:ln/>
        </p:spPr>
        <p:txBody>
          <a:bodyPr wrap="square" lIns="0" tIns="0" rIns="0" bIns="0" rtlCol="0" anchor="ctr"/>
          <a:lstStyle/>
          <a:p>
            <a:pPr indent="0" marL="0">
              <a:buNone/>
            </a:pPr>
            <a:r>
              <a:rPr lang="en-US" sz="1100" dirty="0">
                <a:solidFill>
                  <a:srgbClr val="1B2340"/>
                </a:solidFill>
                <a:latin typeface="Calibri" pitchFamily="34" charset="0"/>
                <a:ea typeface="Calibri" pitchFamily="34" charset="-122"/>
                <a:cs typeface="Calibri" pitchFamily="34" charset="-120"/>
              </a:rPr>
              <a:t>Actor run is submitted and polled until scraping completes.</a:t>
            </a:r>
            <a:endParaRPr lang="en-US" sz="1100" dirty="0"/>
          </a:p>
        </p:txBody>
      </p:sp>
      <p:sp>
        <p:nvSpPr>
          <p:cNvPr id="14" name="Shape 12"/>
          <p:cNvSpPr/>
          <p:nvPr/>
        </p:nvSpPr>
        <p:spPr>
          <a:xfrm>
            <a:off x="548640" y="4059936"/>
            <a:ext cx="10881360" cy="914400"/>
          </a:xfrm>
          <a:prstGeom prst="roundRect">
            <a:avLst>
              <a:gd name="adj" fmla="val 8000"/>
            </a:avLst>
          </a:prstGeom>
          <a:solidFill>
            <a:srgbClr val="F7F9FC"/>
          </a:solidFill>
          <a:ln w="12700">
            <a:solidFill>
              <a:srgbClr val="CADCFC"/>
            </a:solidFill>
            <a:prstDash val="solid"/>
          </a:ln>
        </p:spPr>
      </p:sp>
      <p:sp>
        <p:nvSpPr>
          <p:cNvPr id="15" name="Shape 13"/>
          <p:cNvSpPr/>
          <p:nvPr/>
        </p:nvSpPr>
        <p:spPr>
          <a:xfrm>
            <a:off x="749808" y="4261104"/>
            <a:ext cx="512064" cy="512064"/>
          </a:xfrm>
          <a:prstGeom prst="ellipse">
            <a:avLst/>
          </a:prstGeom>
          <a:solidFill>
            <a:srgbClr val="F2B705"/>
          </a:solidFill>
          <a:ln/>
        </p:spPr>
      </p:sp>
      <p:sp>
        <p:nvSpPr>
          <p:cNvPr id="16" name="Text 14"/>
          <p:cNvSpPr/>
          <p:nvPr/>
        </p:nvSpPr>
        <p:spPr>
          <a:xfrm>
            <a:off x="749808" y="4261104"/>
            <a:ext cx="512064" cy="512064"/>
          </a:xfrm>
          <a:prstGeom prst="rect">
            <a:avLst/>
          </a:prstGeom>
          <a:noFill/>
          <a:ln/>
        </p:spPr>
        <p:txBody>
          <a:bodyPr wrap="square" lIns="0" tIns="0" rIns="0" bIns="0"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508760" y="4169664"/>
            <a:ext cx="292608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Normalize Results</a:t>
            </a:r>
            <a:endParaRPr lang="en-US" sz="1300" dirty="0"/>
          </a:p>
        </p:txBody>
      </p:sp>
      <p:sp>
        <p:nvSpPr>
          <p:cNvPr id="18" name="Text 16"/>
          <p:cNvSpPr/>
          <p:nvPr/>
        </p:nvSpPr>
        <p:spPr>
          <a:xfrm>
            <a:off x="1508760" y="4498848"/>
            <a:ext cx="9692640" cy="411480"/>
          </a:xfrm>
          <a:prstGeom prst="rect">
            <a:avLst/>
          </a:prstGeom>
          <a:noFill/>
          <a:ln/>
        </p:spPr>
        <p:txBody>
          <a:bodyPr wrap="square" lIns="0" tIns="0" rIns="0" bIns="0" rtlCol="0" anchor="ctr"/>
          <a:lstStyle/>
          <a:p>
            <a:pPr indent="0" marL="0">
              <a:buNone/>
            </a:pPr>
            <a:r>
              <a:rPr lang="en-US" sz="1100" dirty="0">
                <a:solidFill>
                  <a:srgbClr val="1B2340"/>
                </a:solidFill>
                <a:latin typeface="Calibri" pitchFamily="34" charset="0"/>
                <a:ea typeface="Calibri" pitchFamily="34" charset="-122"/>
                <a:cs typeface="Calibri" pitchFamily="34" charset="-120"/>
              </a:rPr>
              <a:t>Raw scrape output is parsed into Pydantic-validated ad records.</a:t>
            </a:r>
            <a:endParaRPr lang="en-US" sz="1100" dirty="0"/>
          </a:p>
        </p:txBody>
      </p:sp>
      <p:sp>
        <p:nvSpPr>
          <p:cNvPr id="19" name="Shape 17"/>
          <p:cNvSpPr/>
          <p:nvPr/>
        </p:nvSpPr>
        <p:spPr>
          <a:xfrm>
            <a:off x="548640" y="5175504"/>
            <a:ext cx="10881360" cy="914400"/>
          </a:xfrm>
          <a:prstGeom prst="roundRect">
            <a:avLst>
              <a:gd name="adj" fmla="val 8000"/>
            </a:avLst>
          </a:prstGeom>
          <a:solidFill>
            <a:srgbClr val="FFFFFF"/>
          </a:solidFill>
          <a:ln w="12700">
            <a:solidFill>
              <a:srgbClr val="CADCFC"/>
            </a:solidFill>
            <a:prstDash val="solid"/>
          </a:ln>
        </p:spPr>
      </p:sp>
      <p:sp>
        <p:nvSpPr>
          <p:cNvPr id="20" name="Shape 18"/>
          <p:cNvSpPr/>
          <p:nvPr/>
        </p:nvSpPr>
        <p:spPr>
          <a:xfrm>
            <a:off x="749808" y="5376672"/>
            <a:ext cx="512064" cy="512064"/>
          </a:xfrm>
          <a:prstGeom prst="ellipse">
            <a:avLst/>
          </a:prstGeom>
          <a:solidFill>
            <a:srgbClr val="F2B705"/>
          </a:solidFill>
          <a:ln/>
        </p:spPr>
      </p:sp>
      <p:sp>
        <p:nvSpPr>
          <p:cNvPr id="21" name="Text 19"/>
          <p:cNvSpPr/>
          <p:nvPr/>
        </p:nvSpPr>
        <p:spPr>
          <a:xfrm>
            <a:off x="749808" y="5376672"/>
            <a:ext cx="512064" cy="512064"/>
          </a:xfrm>
          <a:prstGeom prst="rect">
            <a:avLst/>
          </a:prstGeom>
          <a:noFill/>
          <a:ln/>
        </p:spPr>
        <p:txBody>
          <a:bodyPr wrap="square" lIns="0" tIns="0" rIns="0" bIns="0"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508760" y="5285232"/>
            <a:ext cx="292608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Rank &amp; Filter</a:t>
            </a:r>
            <a:endParaRPr lang="en-US" sz="1300" dirty="0"/>
          </a:p>
        </p:txBody>
      </p:sp>
      <p:sp>
        <p:nvSpPr>
          <p:cNvPr id="23" name="Text 21"/>
          <p:cNvSpPr/>
          <p:nvPr/>
        </p:nvSpPr>
        <p:spPr>
          <a:xfrm>
            <a:off x="1508760" y="5614416"/>
            <a:ext cx="9692640" cy="411480"/>
          </a:xfrm>
          <a:prstGeom prst="rect">
            <a:avLst/>
          </a:prstGeom>
          <a:noFill/>
          <a:ln/>
        </p:spPr>
        <p:txBody>
          <a:bodyPr wrap="square" lIns="0" tIns="0" rIns="0" bIns="0" rtlCol="0" anchor="ctr"/>
          <a:lstStyle/>
          <a:p>
            <a:pPr indent="0" marL="0">
              <a:buNone/>
            </a:pPr>
            <a:r>
              <a:rPr lang="en-US" sz="1100" dirty="0">
                <a:solidFill>
                  <a:srgbClr val="1B2340"/>
                </a:solidFill>
                <a:latin typeface="Calibri" pitchFamily="34" charset="0"/>
                <a:ea typeface="Calibri" pitchFamily="34" charset="-122"/>
                <a:cs typeface="Calibri" pitchFamily="34" charset="-120"/>
              </a:rPr>
              <a:t>Ads are ranked by engagement/performance signal for downstream analysis.</a:t>
            </a:r>
            <a:endParaRPr lang="en-US" sz="1100" dirty="0"/>
          </a:p>
        </p:txBody>
      </p:sp>
      <p:sp>
        <p:nvSpPr>
          <p:cNvPr id="24" name="Text 22"/>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CrowdWisdomTrading  |  Hermes Marketing Agents</a:t>
            </a:r>
            <a:endParaRPr lang="en-US" sz="900" dirty="0"/>
          </a:p>
        </p:txBody>
      </p:sp>
      <p:sp>
        <p:nvSpPr>
          <p:cNvPr id="25" name="Text 2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Telegram Integration</a:t>
            </a:r>
            <a:endParaRPr lang="en-US" sz="3200" dirty="0"/>
          </a:p>
        </p:txBody>
      </p:sp>
      <p:sp>
        <p:nvSpPr>
          <p:cNvPr id="3" name="Text 1"/>
          <p:cNvSpPr/>
          <p:nvPr/>
        </p:nvSpPr>
        <p:spPr>
          <a:xfrm>
            <a:off x="548640" y="1051560"/>
            <a:ext cx="9144000" cy="365760"/>
          </a:xfrm>
          <a:prstGeom prst="rect">
            <a:avLst/>
          </a:prstGeom>
          <a:noFill/>
          <a:ln/>
        </p:spPr>
        <p:txBody>
          <a:bodyPr wrap="square" lIns="0" tIns="0" rIns="0" bIns="0" rtlCol="0" anchor="ctr"/>
          <a:lstStyle/>
          <a:p>
            <a:pPr indent="0" marL="0">
              <a:buNone/>
            </a:pPr>
            <a:r>
              <a:rPr lang="en-US" sz="1300" i="1" dirty="0">
                <a:solidFill>
                  <a:srgbClr val="5A6B8C"/>
                </a:solidFill>
                <a:latin typeface="Calibri" pitchFamily="34" charset="0"/>
                <a:ea typeface="Calibri" pitchFamily="34" charset="-122"/>
                <a:cs typeface="Calibri" pitchFamily="34" charset="-120"/>
              </a:rPr>
              <a:t>The primary human interface into the agent pipeline</a:t>
            </a:r>
            <a:endParaRPr lang="en-US" sz="1300" dirty="0"/>
          </a:p>
        </p:txBody>
      </p:sp>
      <p:sp>
        <p:nvSpPr>
          <p:cNvPr id="4" name="Shape 2"/>
          <p:cNvSpPr/>
          <p:nvPr/>
        </p:nvSpPr>
        <p:spPr>
          <a:xfrm>
            <a:off x="548640" y="1828800"/>
            <a:ext cx="6035040" cy="4206240"/>
          </a:xfrm>
          <a:prstGeom prst="roundRect">
            <a:avLst>
              <a:gd name="adj" fmla="val 1739"/>
            </a:avLst>
          </a:prstGeom>
          <a:solidFill>
            <a:srgbClr val="FFFFFF"/>
          </a:solidFill>
          <a:ln/>
          <a:effectLst>
            <a:outerShdw sx="100000" sy="100000" kx="0" ky="0" algn="bl" rotWithShape="0" blurRad="76200" dist="25400" dir="5400000">
              <a:srgbClr val="1B2340">
                <a:alpha val="16000"/>
              </a:srgbClr>
            </a:outerShdw>
          </a:effectLst>
        </p:spPr>
      </p:sp>
      <p:sp>
        <p:nvSpPr>
          <p:cNvPr id="5" name="Text 3"/>
          <p:cNvSpPr/>
          <p:nvPr/>
        </p:nvSpPr>
        <p:spPr>
          <a:xfrm>
            <a:off x="914400" y="2057400"/>
            <a:ext cx="548640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Bot Responsibilities</a:t>
            </a:r>
            <a:endParaRPr lang="en-US" sz="1500" dirty="0"/>
          </a:p>
        </p:txBody>
      </p:sp>
      <p:sp>
        <p:nvSpPr>
          <p:cNvPr id="6" name="Text 4"/>
          <p:cNvSpPr/>
          <p:nvPr/>
        </p:nvSpPr>
        <p:spPr>
          <a:xfrm>
            <a:off x="914400" y="2468880"/>
            <a:ext cx="5486400" cy="3291840"/>
          </a:xfrm>
          <a:prstGeom prst="rect">
            <a:avLst/>
          </a:prstGeom>
          <a:noFill/>
          <a:ln/>
        </p:spPr>
        <p:txBody>
          <a:bodyPr wrap="square" lIns="0" tIns="0" rIns="0" bIns="0" rtlCol="0" anchor="t"/>
          <a:lstStyle/>
          <a:p>
            <a:pPr marL="342900" indent="-342900">
              <a:spcAft>
                <a:spcPts val="1100"/>
              </a:spcAft>
              <a:buSzPct val="100000"/>
              <a:buChar char="•"/>
            </a:pPr>
            <a:r>
              <a:rPr lang="en-US" sz="1200" dirty="0">
                <a:solidFill>
                  <a:srgbClr val="1B2340"/>
                </a:solidFill>
                <a:latin typeface="Calibri" pitchFamily="34" charset="0"/>
                <a:ea typeface="Calibri" pitchFamily="34" charset="-122"/>
                <a:cs typeface="Calibri" pitchFamily="34" charset="-120"/>
              </a:rPr>
              <a:t>Receive user requests to start a discovery/generation run</a:t>
            </a:r>
            <a:endParaRPr lang="en-US" sz="1200" dirty="0"/>
          </a:p>
          <a:p>
            <a:pPr marL="342900" indent="-342900">
              <a:spcAft>
                <a:spcPts val="1100"/>
              </a:spcAft>
              <a:buSzPct val="100000"/>
              <a:buChar char="•"/>
            </a:pPr>
            <a:r>
              <a:rPr lang="en-US" sz="1200" dirty="0">
                <a:solidFill>
                  <a:srgbClr val="1B2340"/>
                </a:solidFill>
                <a:latin typeface="Calibri" pitchFamily="34" charset="0"/>
                <a:ea typeface="Calibri" pitchFamily="34" charset="-122"/>
                <a:cs typeface="Calibri" pitchFamily="34" charset="-120"/>
              </a:rPr>
              <a:t>Validate and parse commands before dispatch to the Orchestrator</a:t>
            </a:r>
            <a:endParaRPr lang="en-US" sz="1200" dirty="0"/>
          </a:p>
          <a:p>
            <a:pPr marL="342900" indent="-342900">
              <a:spcAft>
                <a:spcPts val="1100"/>
              </a:spcAft>
              <a:buSzPct val="100000"/>
              <a:buChar char="•"/>
            </a:pPr>
            <a:r>
              <a:rPr lang="en-US" sz="1200" dirty="0">
                <a:solidFill>
                  <a:srgbClr val="1B2340"/>
                </a:solidFill>
                <a:latin typeface="Calibri" pitchFamily="34" charset="0"/>
                <a:ea typeface="Calibri" pitchFamily="34" charset="-122"/>
                <a:cs typeface="Calibri" pitchFamily="34" charset="-120"/>
              </a:rPr>
              <a:t>Stream status updates back to the user during long-running jobs</a:t>
            </a:r>
            <a:endParaRPr lang="en-US" sz="1200" dirty="0"/>
          </a:p>
          <a:p>
            <a:pPr marL="342900" indent="-342900">
              <a:spcAft>
                <a:spcPts val="1100"/>
              </a:spcAft>
              <a:buSzPct val="100000"/>
              <a:buChar char="•"/>
            </a:pPr>
            <a:r>
              <a:rPr lang="en-US" sz="1200" dirty="0">
                <a:solidFill>
                  <a:srgbClr val="1B2340"/>
                </a:solidFill>
                <a:latin typeface="Calibri" pitchFamily="34" charset="0"/>
                <a:ea typeface="Calibri" pitchFamily="34" charset="-122"/>
                <a:cs typeface="Calibri" pitchFamily="34" charset="-120"/>
              </a:rPr>
              <a:t>Deliver final scripts and rendered video assets in-chat</a:t>
            </a:r>
            <a:endParaRPr lang="en-US" sz="1200" dirty="0"/>
          </a:p>
          <a:p>
            <a:pPr marL="342900" indent="-342900">
              <a:spcAft>
                <a:spcPts val="1100"/>
              </a:spcAft>
              <a:buSzPct val="100000"/>
              <a:buChar char="•"/>
            </a:pPr>
            <a:r>
              <a:rPr lang="en-US" sz="1200" dirty="0">
                <a:solidFill>
                  <a:srgbClr val="1B2340"/>
                </a:solidFill>
                <a:latin typeface="Calibri" pitchFamily="34" charset="0"/>
                <a:ea typeface="Calibri" pitchFamily="34" charset="-122"/>
                <a:cs typeface="Calibri" pitchFamily="34" charset="-120"/>
              </a:rPr>
              <a:t>Support follow-up queries against prior run results</a:t>
            </a:r>
            <a:endParaRPr lang="en-US" sz="1200" dirty="0"/>
          </a:p>
        </p:txBody>
      </p:sp>
      <p:sp>
        <p:nvSpPr>
          <p:cNvPr id="7" name="Shape 5"/>
          <p:cNvSpPr/>
          <p:nvPr/>
        </p:nvSpPr>
        <p:spPr>
          <a:xfrm>
            <a:off x="6858000" y="1828800"/>
            <a:ext cx="4782312" cy="4206240"/>
          </a:xfrm>
          <a:prstGeom prst="roundRect">
            <a:avLst>
              <a:gd name="adj" fmla="val 1739"/>
            </a:avLst>
          </a:prstGeom>
          <a:solidFill>
            <a:srgbClr val="1E2761"/>
          </a:solidFill>
          <a:ln/>
        </p:spPr>
      </p:sp>
      <p:sp>
        <p:nvSpPr>
          <p:cNvPr id="8" name="Text 6"/>
          <p:cNvSpPr/>
          <p:nvPr/>
        </p:nvSpPr>
        <p:spPr>
          <a:xfrm>
            <a:off x="7178040" y="2057400"/>
            <a:ext cx="42062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Design Notes</a:t>
            </a:r>
            <a:endParaRPr lang="en-US" sz="1500" dirty="0"/>
          </a:p>
        </p:txBody>
      </p:sp>
      <p:sp>
        <p:nvSpPr>
          <p:cNvPr id="9" name="Text 7"/>
          <p:cNvSpPr/>
          <p:nvPr/>
        </p:nvSpPr>
        <p:spPr>
          <a:xfrm>
            <a:off x="7178040" y="2468880"/>
            <a:ext cx="4206240" cy="3291840"/>
          </a:xfrm>
          <a:prstGeom prst="rect">
            <a:avLst/>
          </a:prstGeom>
          <a:noFill/>
          <a:ln/>
        </p:spPr>
        <p:txBody>
          <a:bodyPr wrap="square" lIns="0" tIns="0" rIns="0" bIns="0" rtlCol="0" anchor="t"/>
          <a:lstStyle/>
          <a:p>
            <a:pPr marL="342900" indent="-342900">
              <a:spcAft>
                <a:spcPts val="1100"/>
              </a:spcAft>
              <a:buSzPct val="100000"/>
              <a:buChar char="•"/>
            </a:pPr>
            <a:r>
              <a:rPr lang="en-US" sz="1150" dirty="0">
                <a:solidFill>
                  <a:srgbClr val="CADCFC"/>
                </a:solidFill>
                <a:latin typeface="Calibri" pitchFamily="34" charset="0"/>
                <a:ea typeface="Calibri" pitchFamily="34" charset="-122"/>
                <a:cs typeface="Calibri" pitchFamily="34" charset="-120"/>
              </a:rPr>
              <a:t>Bot token and chat access managed via environment variables</a:t>
            </a:r>
            <a:endParaRPr lang="en-US" sz="1150" dirty="0"/>
          </a:p>
          <a:p>
            <a:pPr marL="342900" indent="-342900">
              <a:spcAft>
                <a:spcPts val="1100"/>
              </a:spcAft>
              <a:buSzPct val="100000"/>
              <a:buChar char="•"/>
            </a:pPr>
            <a:r>
              <a:rPr lang="en-US" sz="1150" dirty="0">
                <a:solidFill>
                  <a:srgbClr val="CADCFC"/>
                </a:solidFill>
                <a:latin typeface="Calibri" pitchFamily="34" charset="0"/>
                <a:ea typeface="Calibri" pitchFamily="34" charset="-122"/>
                <a:cs typeface="Calibri" pitchFamily="34" charset="-120"/>
              </a:rPr>
              <a:t>Long-running video generation handled asynchronously</a:t>
            </a:r>
            <a:endParaRPr lang="en-US" sz="1150" dirty="0"/>
          </a:p>
          <a:p>
            <a:pPr marL="342900" indent="-342900">
              <a:spcAft>
                <a:spcPts val="1100"/>
              </a:spcAft>
              <a:buSzPct val="100000"/>
              <a:buChar char="•"/>
            </a:pPr>
            <a:r>
              <a:rPr lang="en-US" sz="1150" dirty="0">
                <a:solidFill>
                  <a:srgbClr val="CADCFC"/>
                </a:solidFill>
                <a:latin typeface="Calibri" pitchFamily="34" charset="0"/>
                <a:ea typeface="Calibri" pitchFamily="34" charset="-122"/>
                <a:cs typeface="Calibri" pitchFamily="34" charset="-120"/>
              </a:rPr>
              <a:t>All interactions logged for auditability</a:t>
            </a:r>
            <a:endParaRPr lang="en-US" sz="1150" dirty="0"/>
          </a:p>
        </p:txBody>
      </p:sp>
      <p:sp>
        <p:nvSpPr>
          <p:cNvPr id="10" name="Text 8"/>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CrowdWisdomTrading  |  Hermes Marketing Agents</a:t>
            </a:r>
            <a:endParaRPr lang="en-US" sz="900" dirty="0"/>
          </a:p>
        </p:txBody>
      </p:sp>
      <p:sp>
        <p:nvSpPr>
          <p:cNvPr id="11" name="Text 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Video Generation Flow</a:t>
            </a:r>
            <a:endParaRPr lang="en-US" sz="3200" dirty="0"/>
          </a:p>
        </p:txBody>
      </p:sp>
      <p:sp>
        <p:nvSpPr>
          <p:cNvPr id="3" name="Text 1"/>
          <p:cNvSpPr/>
          <p:nvPr/>
        </p:nvSpPr>
        <p:spPr>
          <a:xfrm>
            <a:off x="548640" y="1051560"/>
            <a:ext cx="10058400" cy="365760"/>
          </a:xfrm>
          <a:prstGeom prst="rect">
            <a:avLst/>
          </a:prstGeom>
          <a:noFill/>
          <a:ln/>
        </p:spPr>
        <p:txBody>
          <a:bodyPr wrap="square" lIns="0" tIns="0" rIns="0" bIns="0" rtlCol="0" anchor="ctr"/>
          <a:lstStyle/>
          <a:p>
            <a:pPr indent="0" marL="0">
              <a:buNone/>
            </a:pPr>
            <a:r>
              <a:rPr lang="en-US" sz="1300" i="1" dirty="0">
                <a:solidFill>
                  <a:srgbClr val="5A6B8C"/>
                </a:solidFill>
                <a:latin typeface="Calibri" pitchFamily="34" charset="0"/>
                <a:ea typeface="Calibri" pitchFamily="34" charset="-122"/>
                <a:cs typeface="Calibri" pitchFamily="34" charset="-120"/>
              </a:rPr>
              <a:t>Turning an approved script into an AI video ad via OpenMontage</a:t>
            </a:r>
            <a:endParaRPr lang="en-US" sz="1300" dirty="0"/>
          </a:p>
        </p:txBody>
      </p:sp>
      <p:sp>
        <p:nvSpPr>
          <p:cNvPr id="4" name="Shape 2"/>
          <p:cNvSpPr/>
          <p:nvPr/>
        </p:nvSpPr>
        <p:spPr>
          <a:xfrm>
            <a:off x="563728" y="2194560"/>
            <a:ext cx="1691640" cy="1417320"/>
          </a:xfrm>
          <a:prstGeom prst="roundRect">
            <a:avLst>
              <a:gd name="adj" fmla="val 5161"/>
            </a:avLst>
          </a:prstGeom>
          <a:solidFill>
            <a:srgbClr val="F7F9FC"/>
          </a:solidFill>
          <a:ln w="12700">
            <a:solidFill>
              <a:srgbClr val="CADCFC"/>
            </a:solidFill>
            <a:prstDash val="solid"/>
          </a:ln>
        </p:spPr>
      </p:sp>
      <p:sp>
        <p:nvSpPr>
          <p:cNvPr id="5" name="Shape 3"/>
          <p:cNvSpPr/>
          <p:nvPr/>
        </p:nvSpPr>
        <p:spPr>
          <a:xfrm>
            <a:off x="1153516" y="2359152"/>
            <a:ext cx="512064" cy="512064"/>
          </a:xfrm>
          <a:prstGeom prst="ellipse">
            <a:avLst/>
          </a:prstGeom>
          <a:solidFill>
            <a:srgbClr val="1E2761"/>
          </a:solidFill>
          <a:ln/>
        </p:spPr>
      </p:sp>
      <p:sp>
        <p:nvSpPr>
          <p:cNvPr id="6" name="Text 4"/>
          <p:cNvSpPr/>
          <p:nvPr/>
        </p:nvSpPr>
        <p:spPr>
          <a:xfrm>
            <a:off x="1153516" y="235915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636880" y="2999232"/>
            <a:ext cx="1545336" cy="548640"/>
          </a:xfrm>
          <a:prstGeom prst="rect">
            <a:avLst/>
          </a:prstGeom>
          <a:noFill/>
          <a:ln/>
        </p:spPr>
        <p:txBody>
          <a:bodyPr wrap="square" lIns="0" tIns="0" rIns="0" bIns="0" rtlCol="0" anchor="ctr"/>
          <a:lstStyle/>
          <a:p>
            <a:pPr algn="ctr" indent="0" marL="0">
              <a:lnSpc>
                <a:spcPct val="115000"/>
              </a:lnSpc>
              <a:buNone/>
            </a:pPr>
            <a:r>
              <a:rPr lang="en-US" sz="1050" b="1" dirty="0">
                <a:solidFill>
                  <a:srgbClr val="1E2761"/>
                </a:solidFill>
                <a:latin typeface="Calibri" pitchFamily="34" charset="0"/>
                <a:ea typeface="Calibri" pitchFamily="34" charset="-122"/>
                <a:cs typeface="Calibri" pitchFamily="34" charset="-120"/>
              </a:rPr>
              <a:t>Script</a:t>
            </a:r>
            <a:endParaRPr lang="en-US" sz="1050" dirty="0"/>
          </a:p>
          <a:p>
            <a:pPr algn="ctr" indent="0" marL="0">
              <a:lnSpc>
                <a:spcPct val="115000"/>
              </a:lnSpc>
              <a:buNone/>
            </a:pPr>
            <a:r>
              <a:rPr lang="en-US" sz="1050" b="1" dirty="0">
                <a:solidFill>
                  <a:srgbClr val="1E2761"/>
                </a:solidFill>
                <a:latin typeface="Calibri" pitchFamily="34" charset="0"/>
                <a:ea typeface="Calibri" pitchFamily="34" charset="-122"/>
                <a:cs typeface="Calibri" pitchFamily="34" charset="-120"/>
              </a:rPr>
              <a:t>finalized</a:t>
            </a:r>
            <a:endParaRPr lang="en-US" sz="1050" dirty="0"/>
          </a:p>
        </p:txBody>
      </p:sp>
      <p:sp>
        <p:nvSpPr>
          <p:cNvPr id="8" name="Shape 6"/>
          <p:cNvSpPr/>
          <p:nvPr/>
        </p:nvSpPr>
        <p:spPr>
          <a:xfrm>
            <a:off x="2255368" y="2903220"/>
            <a:ext cx="182880" cy="0"/>
          </a:xfrm>
          <a:prstGeom prst="line">
            <a:avLst/>
          </a:prstGeom>
          <a:noFill/>
          <a:ln w="19050">
            <a:solidFill>
              <a:srgbClr val="5A6B8C"/>
            </a:solidFill>
            <a:prstDash val="solid"/>
            <a:tailEnd type="triangle"/>
          </a:ln>
        </p:spPr>
      </p:sp>
      <p:sp>
        <p:nvSpPr>
          <p:cNvPr id="9" name="Shape 7"/>
          <p:cNvSpPr/>
          <p:nvPr/>
        </p:nvSpPr>
        <p:spPr>
          <a:xfrm>
            <a:off x="2438248" y="2194560"/>
            <a:ext cx="1691640" cy="1417320"/>
          </a:xfrm>
          <a:prstGeom prst="roundRect">
            <a:avLst>
              <a:gd name="adj" fmla="val 5161"/>
            </a:avLst>
          </a:prstGeom>
          <a:solidFill>
            <a:srgbClr val="F7F9FC"/>
          </a:solidFill>
          <a:ln w="12700">
            <a:solidFill>
              <a:srgbClr val="CADCFC"/>
            </a:solidFill>
            <a:prstDash val="solid"/>
          </a:ln>
        </p:spPr>
      </p:sp>
      <p:sp>
        <p:nvSpPr>
          <p:cNvPr id="10" name="Shape 8"/>
          <p:cNvSpPr/>
          <p:nvPr/>
        </p:nvSpPr>
        <p:spPr>
          <a:xfrm>
            <a:off x="3028036" y="2359152"/>
            <a:ext cx="512064" cy="512064"/>
          </a:xfrm>
          <a:prstGeom prst="ellipse">
            <a:avLst/>
          </a:prstGeom>
          <a:solidFill>
            <a:srgbClr val="1E2761"/>
          </a:solidFill>
          <a:ln/>
        </p:spPr>
      </p:sp>
      <p:sp>
        <p:nvSpPr>
          <p:cNvPr id="11" name="Text 9"/>
          <p:cNvSpPr/>
          <p:nvPr/>
        </p:nvSpPr>
        <p:spPr>
          <a:xfrm>
            <a:off x="3028036" y="235915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2511400" y="2999232"/>
            <a:ext cx="1545336" cy="548640"/>
          </a:xfrm>
          <a:prstGeom prst="rect">
            <a:avLst/>
          </a:prstGeom>
          <a:noFill/>
          <a:ln/>
        </p:spPr>
        <p:txBody>
          <a:bodyPr wrap="square" lIns="0" tIns="0" rIns="0" bIns="0" rtlCol="0" anchor="ctr"/>
          <a:lstStyle/>
          <a:p>
            <a:pPr algn="ctr" indent="0" marL="0">
              <a:lnSpc>
                <a:spcPct val="115000"/>
              </a:lnSpc>
              <a:buNone/>
            </a:pPr>
            <a:r>
              <a:rPr lang="en-US" sz="1050" b="1" dirty="0">
                <a:solidFill>
                  <a:srgbClr val="1E2761"/>
                </a:solidFill>
                <a:latin typeface="Calibri" pitchFamily="34" charset="0"/>
                <a:ea typeface="Calibri" pitchFamily="34" charset="-122"/>
                <a:cs typeface="Calibri" pitchFamily="34" charset="-120"/>
              </a:rPr>
              <a:t>Payload</a:t>
            </a:r>
            <a:endParaRPr lang="en-US" sz="1050" dirty="0"/>
          </a:p>
          <a:p>
            <a:pPr algn="ctr" indent="0" marL="0">
              <a:lnSpc>
                <a:spcPct val="115000"/>
              </a:lnSpc>
              <a:buNone/>
            </a:pPr>
            <a:r>
              <a:rPr lang="en-US" sz="1050" b="1" dirty="0">
                <a:solidFill>
                  <a:srgbClr val="1E2761"/>
                </a:solidFill>
                <a:latin typeface="Calibri" pitchFamily="34" charset="0"/>
                <a:ea typeface="Calibri" pitchFamily="34" charset="-122"/>
                <a:cs typeface="Calibri" pitchFamily="34" charset="-120"/>
              </a:rPr>
              <a:t>built</a:t>
            </a:r>
            <a:endParaRPr lang="en-US" sz="1050" dirty="0"/>
          </a:p>
        </p:txBody>
      </p:sp>
      <p:sp>
        <p:nvSpPr>
          <p:cNvPr id="13" name="Shape 11"/>
          <p:cNvSpPr/>
          <p:nvPr/>
        </p:nvSpPr>
        <p:spPr>
          <a:xfrm>
            <a:off x="4129888" y="2903220"/>
            <a:ext cx="182880" cy="0"/>
          </a:xfrm>
          <a:prstGeom prst="line">
            <a:avLst/>
          </a:prstGeom>
          <a:noFill/>
          <a:ln w="19050">
            <a:solidFill>
              <a:srgbClr val="5A6B8C"/>
            </a:solidFill>
            <a:prstDash val="solid"/>
            <a:tailEnd type="triangle"/>
          </a:ln>
        </p:spPr>
      </p:sp>
      <p:sp>
        <p:nvSpPr>
          <p:cNvPr id="14" name="Shape 12"/>
          <p:cNvSpPr/>
          <p:nvPr/>
        </p:nvSpPr>
        <p:spPr>
          <a:xfrm>
            <a:off x="4312768" y="2194560"/>
            <a:ext cx="1691640" cy="1417320"/>
          </a:xfrm>
          <a:prstGeom prst="roundRect">
            <a:avLst>
              <a:gd name="adj" fmla="val 5161"/>
            </a:avLst>
          </a:prstGeom>
          <a:solidFill>
            <a:srgbClr val="F7F9FC"/>
          </a:solidFill>
          <a:ln w="12700">
            <a:solidFill>
              <a:srgbClr val="CADCFC"/>
            </a:solidFill>
            <a:prstDash val="solid"/>
          </a:ln>
        </p:spPr>
      </p:sp>
      <p:sp>
        <p:nvSpPr>
          <p:cNvPr id="15" name="Shape 13"/>
          <p:cNvSpPr/>
          <p:nvPr/>
        </p:nvSpPr>
        <p:spPr>
          <a:xfrm>
            <a:off x="4902556" y="2359152"/>
            <a:ext cx="512064" cy="512064"/>
          </a:xfrm>
          <a:prstGeom prst="ellipse">
            <a:avLst/>
          </a:prstGeom>
          <a:solidFill>
            <a:srgbClr val="1E2761"/>
          </a:solidFill>
          <a:ln/>
        </p:spPr>
      </p:sp>
      <p:sp>
        <p:nvSpPr>
          <p:cNvPr id="16" name="Text 14"/>
          <p:cNvSpPr/>
          <p:nvPr/>
        </p:nvSpPr>
        <p:spPr>
          <a:xfrm>
            <a:off x="4902556" y="235915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4385920" y="2999232"/>
            <a:ext cx="1545336" cy="548640"/>
          </a:xfrm>
          <a:prstGeom prst="rect">
            <a:avLst/>
          </a:prstGeom>
          <a:noFill/>
          <a:ln/>
        </p:spPr>
        <p:txBody>
          <a:bodyPr wrap="square" lIns="0" tIns="0" rIns="0" bIns="0" rtlCol="0" anchor="ctr"/>
          <a:lstStyle/>
          <a:p>
            <a:pPr algn="ctr" indent="0" marL="0">
              <a:lnSpc>
                <a:spcPct val="115000"/>
              </a:lnSpc>
              <a:buNone/>
            </a:pPr>
            <a:r>
              <a:rPr lang="en-US" sz="1050" b="1" dirty="0">
                <a:solidFill>
                  <a:srgbClr val="1E2761"/>
                </a:solidFill>
                <a:latin typeface="Calibri" pitchFamily="34" charset="0"/>
                <a:ea typeface="Calibri" pitchFamily="34" charset="-122"/>
                <a:cs typeface="Calibri" pitchFamily="34" charset="-120"/>
              </a:rPr>
              <a:t>OpenMontage</a:t>
            </a:r>
            <a:endParaRPr lang="en-US" sz="1050" dirty="0"/>
          </a:p>
          <a:p>
            <a:pPr algn="ctr" indent="0" marL="0">
              <a:lnSpc>
                <a:spcPct val="115000"/>
              </a:lnSpc>
              <a:buNone/>
            </a:pPr>
            <a:r>
              <a:rPr lang="en-US" sz="1050" b="1" dirty="0">
                <a:solidFill>
                  <a:srgbClr val="1E2761"/>
                </a:solidFill>
                <a:latin typeface="Calibri" pitchFamily="34" charset="0"/>
                <a:ea typeface="Calibri" pitchFamily="34" charset="-122"/>
                <a:cs typeface="Calibri" pitchFamily="34" charset="-120"/>
              </a:rPr>
              <a:t>render job</a:t>
            </a:r>
            <a:endParaRPr lang="en-US" sz="1050" dirty="0"/>
          </a:p>
        </p:txBody>
      </p:sp>
      <p:sp>
        <p:nvSpPr>
          <p:cNvPr id="18" name="Shape 16"/>
          <p:cNvSpPr/>
          <p:nvPr/>
        </p:nvSpPr>
        <p:spPr>
          <a:xfrm>
            <a:off x="6004408" y="2903220"/>
            <a:ext cx="182880" cy="0"/>
          </a:xfrm>
          <a:prstGeom prst="line">
            <a:avLst/>
          </a:prstGeom>
          <a:noFill/>
          <a:ln w="19050">
            <a:solidFill>
              <a:srgbClr val="5A6B8C"/>
            </a:solidFill>
            <a:prstDash val="solid"/>
            <a:tailEnd type="triangle"/>
          </a:ln>
        </p:spPr>
      </p:sp>
      <p:sp>
        <p:nvSpPr>
          <p:cNvPr id="19" name="Shape 17"/>
          <p:cNvSpPr/>
          <p:nvPr/>
        </p:nvSpPr>
        <p:spPr>
          <a:xfrm>
            <a:off x="6187288" y="2194560"/>
            <a:ext cx="1691640" cy="1417320"/>
          </a:xfrm>
          <a:prstGeom prst="roundRect">
            <a:avLst>
              <a:gd name="adj" fmla="val 5161"/>
            </a:avLst>
          </a:prstGeom>
          <a:solidFill>
            <a:srgbClr val="F7F9FC"/>
          </a:solidFill>
          <a:ln w="12700">
            <a:solidFill>
              <a:srgbClr val="CADCFC"/>
            </a:solidFill>
            <a:prstDash val="solid"/>
          </a:ln>
        </p:spPr>
      </p:sp>
      <p:sp>
        <p:nvSpPr>
          <p:cNvPr id="20" name="Shape 18"/>
          <p:cNvSpPr/>
          <p:nvPr/>
        </p:nvSpPr>
        <p:spPr>
          <a:xfrm>
            <a:off x="6777076" y="2359152"/>
            <a:ext cx="512064" cy="512064"/>
          </a:xfrm>
          <a:prstGeom prst="ellipse">
            <a:avLst/>
          </a:prstGeom>
          <a:solidFill>
            <a:srgbClr val="1E2761"/>
          </a:solidFill>
          <a:ln/>
        </p:spPr>
      </p:sp>
      <p:sp>
        <p:nvSpPr>
          <p:cNvPr id="21" name="Text 19"/>
          <p:cNvSpPr/>
          <p:nvPr/>
        </p:nvSpPr>
        <p:spPr>
          <a:xfrm>
            <a:off x="6777076" y="235915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6260440" y="2999232"/>
            <a:ext cx="1545336" cy="548640"/>
          </a:xfrm>
          <a:prstGeom prst="rect">
            <a:avLst/>
          </a:prstGeom>
          <a:noFill/>
          <a:ln/>
        </p:spPr>
        <p:txBody>
          <a:bodyPr wrap="square" lIns="0" tIns="0" rIns="0" bIns="0" rtlCol="0" anchor="ctr"/>
          <a:lstStyle/>
          <a:p>
            <a:pPr algn="ctr" indent="0" marL="0">
              <a:lnSpc>
                <a:spcPct val="115000"/>
              </a:lnSpc>
              <a:buNone/>
            </a:pPr>
            <a:r>
              <a:rPr lang="en-US" sz="1050" b="1" dirty="0">
                <a:solidFill>
                  <a:srgbClr val="1E2761"/>
                </a:solidFill>
                <a:latin typeface="Calibri" pitchFamily="34" charset="0"/>
                <a:ea typeface="Calibri" pitchFamily="34" charset="-122"/>
                <a:cs typeface="Calibri" pitchFamily="34" charset="-120"/>
              </a:rPr>
              <a:t>Poll</a:t>
            </a:r>
            <a:endParaRPr lang="en-US" sz="1050" dirty="0"/>
          </a:p>
          <a:p>
            <a:pPr algn="ctr" indent="0" marL="0">
              <a:lnSpc>
                <a:spcPct val="115000"/>
              </a:lnSpc>
              <a:buNone/>
            </a:pPr>
            <a:r>
              <a:rPr lang="en-US" sz="1050" b="1" dirty="0">
                <a:solidFill>
                  <a:srgbClr val="1E2761"/>
                </a:solidFill>
                <a:latin typeface="Calibri" pitchFamily="34" charset="0"/>
                <a:ea typeface="Calibri" pitchFamily="34" charset="-122"/>
                <a:cs typeface="Calibri" pitchFamily="34" charset="-120"/>
              </a:rPr>
              <a:t>render status</a:t>
            </a:r>
            <a:endParaRPr lang="en-US" sz="1050" dirty="0"/>
          </a:p>
        </p:txBody>
      </p:sp>
      <p:sp>
        <p:nvSpPr>
          <p:cNvPr id="23" name="Shape 21"/>
          <p:cNvSpPr/>
          <p:nvPr/>
        </p:nvSpPr>
        <p:spPr>
          <a:xfrm>
            <a:off x="7878928" y="2903220"/>
            <a:ext cx="182880" cy="0"/>
          </a:xfrm>
          <a:prstGeom prst="line">
            <a:avLst/>
          </a:prstGeom>
          <a:noFill/>
          <a:ln w="19050">
            <a:solidFill>
              <a:srgbClr val="5A6B8C"/>
            </a:solidFill>
            <a:prstDash val="solid"/>
            <a:tailEnd type="triangle"/>
          </a:ln>
        </p:spPr>
      </p:sp>
      <p:sp>
        <p:nvSpPr>
          <p:cNvPr id="24" name="Shape 22"/>
          <p:cNvSpPr/>
          <p:nvPr/>
        </p:nvSpPr>
        <p:spPr>
          <a:xfrm>
            <a:off x="8061808" y="2194560"/>
            <a:ext cx="1691640" cy="1417320"/>
          </a:xfrm>
          <a:prstGeom prst="roundRect">
            <a:avLst>
              <a:gd name="adj" fmla="val 5161"/>
            </a:avLst>
          </a:prstGeom>
          <a:solidFill>
            <a:srgbClr val="F7F9FC"/>
          </a:solidFill>
          <a:ln w="12700">
            <a:solidFill>
              <a:srgbClr val="CADCFC"/>
            </a:solidFill>
            <a:prstDash val="solid"/>
          </a:ln>
        </p:spPr>
      </p:sp>
      <p:sp>
        <p:nvSpPr>
          <p:cNvPr id="25" name="Shape 23"/>
          <p:cNvSpPr/>
          <p:nvPr/>
        </p:nvSpPr>
        <p:spPr>
          <a:xfrm>
            <a:off x="8651596" y="2359152"/>
            <a:ext cx="512064" cy="512064"/>
          </a:xfrm>
          <a:prstGeom prst="ellipse">
            <a:avLst/>
          </a:prstGeom>
          <a:solidFill>
            <a:srgbClr val="1E2761"/>
          </a:solidFill>
          <a:ln/>
        </p:spPr>
      </p:sp>
      <p:sp>
        <p:nvSpPr>
          <p:cNvPr id="26" name="Text 24"/>
          <p:cNvSpPr/>
          <p:nvPr/>
        </p:nvSpPr>
        <p:spPr>
          <a:xfrm>
            <a:off x="8651596" y="235915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8134960" y="2999232"/>
            <a:ext cx="1545336" cy="548640"/>
          </a:xfrm>
          <a:prstGeom prst="rect">
            <a:avLst/>
          </a:prstGeom>
          <a:noFill/>
          <a:ln/>
        </p:spPr>
        <p:txBody>
          <a:bodyPr wrap="square" lIns="0" tIns="0" rIns="0" bIns="0" rtlCol="0" anchor="ctr"/>
          <a:lstStyle/>
          <a:p>
            <a:pPr algn="ctr" indent="0" marL="0">
              <a:lnSpc>
                <a:spcPct val="115000"/>
              </a:lnSpc>
              <a:buNone/>
            </a:pPr>
            <a:r>
              <a:rPr lang="en-US" sz="1050" b="1" dirty="0">
                <a:solidFill>
                  <a:srgbClr val="1E2761"/>
                </a:solidFill>
                <a:latin typeface="Calibri" pitchFamily="34" charset="0"/>
                <a:ea typeface="Calibri" pitchFamily="34" charset="-122"/>
                <a:cs typeface="Calibri" pitchFamily="34" charset="-120"/>
              </a:rPr>
              <a:t>Asset</a:t>
            </a:r>
            <a:endParaRPr lang="en-US" sz="1050" dirty="0"/>
          </a:p>
          <a:p>
            <a:pPr algn="ctr" indent="0" marL="0">
              <a:lnSpc>
                <a:spcPct val="115000"/>
              </a:lnSpc>
              <a:buNone/>
            </a:pPr>
            <a:r>
              <a:rPr lang="en-US" sz="1050" b="1" dirty="0">
                <a:solidFill>
                  <a:srgbClr val="1E2761"/>
                </a:solidFill>
                <a:latin typeface="Calibri" pitchFamily="34" charset="0"/>
                <a:ea typeface="Calibri" pitchFamily="34" charset="-122"/>
                <a:cs typeface="Calibri" pitchFamily="34" charset="-120"/>
              </a:rPr>
              <a:t>retrieved</a:t>
            </a:r>
            <a:endParaRPr lang="en-US" sz="1050" dirty="0"/>
          </a:p>
        </p:txBody>
      </p:sp>
      <p:sp>
        <p:nvSpPr>
          <p:cNvPr id="28" name="Shape 26"/>
          <p:cNvSpPr/>
          <p:nvPr/>
        </p:nvSpPr>
        <p:spPr>
          <a:xfrm>
            <a:off x="9753448" y="2903220"/>
            <a:ext cx="182880" cy="0"/>
          </a:xfrm>
          <a:prstGeom prst="line">
            <a:avLst/>
          </a:prstGeom>
          <a:noFill/>
          <a:ln w="19050">
            <a:solidFill>
              <a:srgbClr val="5A6B8C"/>
            </a:solidFill>
            <a:prstDash val="solid"/>
            <a:tailEnd type="triangle"/>
          </a:ln>
        </p:spPr>
      </p:sp>
      <p:sp>
        <p:nvSpPr>
          <p:cNvPr id="29" name="Shape 27"/>
          <p:cNvSpPr/>
          <p:nvPr/>
        </p:nvSpPr>
        <p:spPr>
          <a:xfrm>
            <a:off x="9936328" y="2194560"/>
            <a:ext cx="1691640" cy="1417320"/>
          </a:xfrm>
          <a:prstGeom prst="roundRect">
            <a:avLst>
              <a:gd name="adj" fmla="val 5161"/>
            </a:avLst>
          </a:prstGeom>
          <a:solidFill>
            <a:srgbClr val="F7F9FC"/>
          </a:solidFill>
          <a:ln w="12700">
            <a:solidFill>
              <a:srgbClr val="CADCFC"/>
            </a:solidFill>
            <a:prstDash val="solid"/>
          </a:ln>
        </p:spPr>
      </p:sp>
      <p:sp>
        <p:nvSpPr>
          <p:cNvPr id="30" name="Shape 28"/>
          <p:cNvSpPr/>
          <p:nvPr/>
        </p:nvSpPr>
        <p:spPr>
          <a:xfrm>
            <a:off x="10526116" y="2359152"/>
            <a:ext cx="512064" cy="512064"/>
          </a:xfrm>
          <a:prstGeom prst="ellipse">
            <a:avLst/>
          </a:prstGeom>
          <a:solidFill>
            <a:srgbClr val="1E2761"/>
          </a:solidFill>
          <a:ln/>
        </p:spPr>
      </p:sp>
      <p:sp>
        <p:nvSpPr>
          <p:cNvPr id="31" name="Text 29"/>
          <p:cNvSpPr/>
          <p:nvPr/>
        </p:nvSpPr>
        <p:spPr>
          <a:xfrm>
            <a:off x="10526116" y="235915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p:nvPr/>
        </p:nvSpPr>
        <p:spPr>
          <a:xfrm>
            <a:off x="10009480" y="2999232"/>
            <a:ext cx="1545336" cy="548640"/>
          </a:xfrm>
          <a:prstGeom prst="rect">
            <a:avLst/>
          </a:prstGeom>
          <a:noFill/>
          <a:ln/>
        </p:spPr>
        <p:txBody>
          <a:bodyPr wrap="square" lIns="0" tIns="0" rIns="0" bIns="0" rtlCol="0" anchor="ctr"/>
          <a:lstStyle/>
          <a:p>
            <a:pPr algn="ctr" indent="0" marL="0">
              <a:lnSpc>
                <a:spcPct val="115000"/>
              </a:lnSpc>
              <a:buNone/>
            </a:pPr>
            <a:r>
              <a:rPr lang="en-US" sz="1050" b="1" dirty="0">
                <a:solidFill>
                  <a:srgbClr val="1E2761"/>
                </a:solidFill>
                <a:latin typeface="Calibri" pitchFamily="34" charset="0"/>
                <a:ea typeface="Calibri" pitchFamily="34" charset="-122"/>
                <a:cs typeface="Calibri" pitchFamily="34" charset="-120"/>
              </a:rPr>
              <a:t>Delivered</a:t>
            </a:r>
            <a:endParaRPr lang="en-US" sz="1050" dirty="0"/>
          </a:p>
          <a:p>
            <a:pPr algn="ctr" indent="0" marL="0">
              <a:lnSpc>
                <a:spcPct val="115000"/>
              </a:lnSpc>
              <a:buNone/>
            </a:pPr>
            <a:r>
              <a:rPr lang="en-US" sz="1050" b="1" dirty="0">
                <a:solidFill>
                  <a:srgbClr val="1E2761"/>
                </a:solidFill>
                <a:latin typeface="Calibri" pitchFamily="34" charset="0"/>
                <a:ea typeface="Calibri" pitchFamily="34" charset="-122"/>
                <a:cs typeface="Calibri" pitchFamily="34" charset="-120"/>
              </a:rPr>
              <a:t>via Telegram</a:t>
            </a:r>
            <a:endParaRPr lang="en-US" sz="1050" dirty="0"/>
          </a:p>
        </p:txBody>
      </p:sp>
      <p:sp>
        <p:nvSpPr>
          <p:cNvPr id="33" name="Shape 31"/>
          <p:cNvSpPr/>
          <p:nvPr/>
        </p:nvSpPr>
        <p:spPr>
          <a:xfrm>
            <a:off x="914400" y="4023360"/>
            <a:ext cx="10332720" cy="2011680"/>
          </a:xfrm>
          <a:prstGeom prst="roundRect">
            <a:avLst>
              <a:gd name="adj" fmla="val 3636"/>
            </a:avLst>
          </a:prstGeom>
          <a:solidFill>
            <a:srgbClr val="F7F9FC"/>
          </a:solidFill>
          <a:ln/>
        </p:spPr>
      </p:sp>
      <p:sp>
        <p:nvSpPr>
          <p:cNvPr id="34" name="Text 32"/>
          <p:cNvSpPr/>
          <p:nvPr/>
        </p:nvSpPr>
        <p:spPr>
          <a:xfrm>
            <a:off x="1188720" y="4206240"/>
            <a:ext cx="457200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Key Considerations</a:t>
            </a:r>
            <a:endParaRPr lang="en-US" sz="1400" dirty="0"/>
          </a:p>
        </p:txBody>
      </p:sp>
      <p:sp>
        <p:nvSpPr>
          <p:cNvPr id="35" name="Text 33"/>
          <p:cNvSpPr/>
          <p:nvPr/>
        </p:nvSpPr>
        <p:spPr>
          <a:xfrm>
            <a:off x="1188720" y="4617720"/>
            <a:ext cx="9784080" cy="132588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Render jobs are asynchronous and polled for completion status</a:t>
            </a:r>
            <a:endParaRPr lang="en-US" sz="1150" dirty="0"/>
          </a:p>
          <a:p>
            <a:pPr marL="342900" indent="-3429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Failed renders trigger retry logic before surfacing an error to the user</a:t>
            </a:r>
            <a:endParaRPr lang="en-US" sz="1150" dirty="0"/>
          </a:p>
          <a:p>
            <a:pPr marL="342900" indent="-342900">
              <a:spcAft>
                <a:spcPts val="800"/>
              </a:spcAft>
              <a:buSzPct val="100000"/>
              <a:buChar char="•"/>
            </a:pPr>
            <a:r>
              <a:rPr lang="en-US" sz="1150" dirty="0">
                <a:solidFill>
                  <a:srgbClr val="1B2340"/>
                </a:solidFill>
                <a:latin typeface="Calibri" pitchFamily="34" charset="0"/>
                <a:ea typeface="Calibri" pitchFamily="34" charset="-122"/>
                <a:cs typeface="Calibri" pitchFamily="34" charset="-120"/>
              </a:rPr>
              <a:t>Generated video metadata is persisted alongside the source script in SQLite</a:t>
            </a:r>
            <a:endParaRPr lang="en-US" sz="1150" dirty="0"/>
          </a:p>
        </p:txBody>
      </p:sp>
      <p:sp>
        <p:nvSpPr>
          <p:cNvPr id="36" name="Text 34"/>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CrowdWisdomTrading  |  Hermes Marketing Agents</a:t>
            </a:r>
            <a:endParaRPr lang="en-US" sz="900" dirty="0"/>
          </a:p>
        </p:txBody>
      </p:sp>
      <p:sp>
        <p:nvSpPr>
          <p:cNvPr id="37" name="Text 3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B4D"/>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Project Demo</a:t>
            </a:r>
            <a:endParaRPr lang="en-US" sz="3200" dirty="0"/>
          </a:p>
        </p:txBody>
      </p:sp>
      <p:sp>
        <p:nvSpPr>
          <p:cNvPr id="3" name="Text 1"/>
          <p:cNvSpPr/>
          <p:nvPr/>
        </p:nvSpPr>
        <p:spPr>
          <a:xfrm>
            <a:off x="548640" y="1051560"/>
            <a:ext cx="10515600" cy="365760"/>
          </a:xfrm>
          <a:prstGeom prst="rect">
            <a:avLst/>
          </a:prstGeom>
          <a:noFill/>
          <a:ln/>
        </p:spPr>
        <p:txBody>
          <a:bodyPr wrap="square" lIns="0" tIns="0" rIns="0" bIns="0" rtlCol="0" anchor="ctr"/>
          <a:lstStyle/>
          <a:p>
            <a:pPr indent="0" marL="0">
              <a:buNone/>
            </a:pPr>
            <a:r>
              <a:rPr lang="en-US" sz="1300" i="1" dirty="0">
                <a:solidFill>
                  <a:srgbClr val="F2B705"/>
                </a:solidFill>
                <a:latin typeface="Calibri" pitchFamily="34" charset="0"/>
                <a:ea typeface="Calibri" pitchFamily="34" charset="-122"/>
                <a:cs typeface="Calibri" pitchFamily="34" charset="-120"/>
              </a:rPr>
              <a:t>Planned demonstration flow — to be recorded once implementation is complete</a:t>
            </a:r>
            <a:endParaRPr lang="en-US" sz="1300" dirty="0"/>
          </a:p>
        </p:txBody>
      </p:sp>
      <p:sp>
        <p:nvSpPr>
          <p:cNvPr id="4" name="Shape 2"/>
          <p:cNvSpPr/>
          <p:nvPr/>
        </p:nvSpPr>
        <p:spPr>
          <a:xfrm>
            <a:off x="640080" y="1828800"/>
            <a:ext cx="10881360" cy="4206240"/>
          </a:xfrm>
          <a:prstGeom prst="roundRect">
            <a:avLst>
              <a:gd name="adj" fmla="val 1739"/>
            </a:avLst>
          </a:prstGeom>
          <a:solidFill>
            <a:srgbClr val="1E2761"/>
          </a:solidFill>
          <a:ln/>
        </p:spPr>
      </p:sp>
      <p:sp>
        <p:nvSpPr>
          <p:cNvPr id="5" name="Text 3"/>
          <p:cNvSpPr/>
          <p:nvPr/>
        </p:nvSpPr>
        <p:spPr>
          <a:xfrm>
            <a:off x="1005840" y="2103120"/>
            <a:ext cx="5486400" cy="365760"/>
          </a:xfrm>
          <a:prstGeom prst="rect">
            <a:avLst/>
          </a:prstGeom>
          <a:noFill/>
          <a:ln/>
        </p:spPr>
        <p:txBody>
          <a:bodyPr wrap="square" lIns="0" tIns="0" rIns="0" bIns="0" rtlCol="0" anchor="ctr"/>
          <a:lstStyle/>
          <a:p>
            <a:pPr indent="0" marL="0">
              <a:buNone/>
            </a:pPr>
            <a:r>
              <a:rPr lang="en-US" sz="1500" b="1" dirty="0">
                <a:solidFill>
                  <a:srgbClr val="F2B705"/>
                </a:solidFill>
                <a:latin typeface="Calibri" pitchFamily="34" charset="0"/>
                <a:ea typeface="Calibri" pitchFamily="34" charset="-122"/>
                <a:cs typeface="Calibri" pitchFamily="34" charset="-120"/>
              </a:rPr>
              <a:t>Status: Not Yet Available</a:t>
            </a:r>
            <a:endParaRPr lang="en-US" sz="1500" dirty="0"/>
          </a:p>
        </p:txBody>
      </p:sp>
      <p:sp>
        <p:nvSpPr>
          <p:cNvPr id="6" name="Text 4"/>
          <p:cNvSpPr/>
          <p:nvPr/>
        </p:nvSpPr>
        <p:spPr>
          <a:xfrm>
            <a:off x="1005840" y="2514600"/>
            <a:ext cx="9966960" cy="640080"/>
          </a:xfrm>
          <a:prstGeom prst="rect">
            <a:avLst/>
          </a:prstGeom>
          <a:noFill/>
          <a:ln/>
        </p:spPr>
        <p:txBody>
          <a:bodyPr wrap="square" lIns="0" tIns="0" rIns="0" bIns="0" rtlCol="0" anchor="ctr"/>
          <a:lstStyle/>
          <a:p>
            <a:pPr indent="0" marL="0">
              <a:lnSpc>
                <a:spcPct val="130000"/>
              </a:lnSpc>
              <a:buNone/>
            </a:pPr>
            <a:r>
              <a:rPr lang="en-US" sz="1200" dirty="0">
                <a:solidFill>
                  <a:srgbClr val="CADCFC"/>
                </a:solidFill>
                <a:latin typeface="Calibri" pitchFamily="34" charset="0"/>
                <a:ea typeface="Calibri" pitchFamily="34" charset="-122"/>
                <a:cs typeface="Calibri" pitchFamily="34" charset="-120"/>
              </a:rPr>
              <a:t>This deck reflects the proposed architecture and workflow ahead of implementation. Once the codebase is available, this section will be replaced with an actual walkthrough:</a:t>
            </a:r>
            <a:endParaRPr lang="en-US" sz="1200" dirty="0"/>
          </a:p>
        </p:txBody>
      </p:sp>
      <p:sp>
        <p:nvSpPr>
          <p:cNvPr id="7" name="Text 5"/>
          <p:cNvSpPr/>
          <p:nvPr/>
        </p:nvSpPr>
        <p:spPr>
          <a:xfrm>
            <a:off x="1005840" y="3246120"/>
            <a:ext cx="9966960" cy="2651760"/>
          </a:xfrm>
          <a:prstGeom prst="rect">
            <a:avLst/>
          </a:prstGeom>
          <a:noFill/>
          <a:ln/>
        </p:spPr>
        <p:txBody>
          <a:bodyPr wrap="square" lIns="0" tIns="0" rIns="0" bIns="0" rtlCol="0" anchor="t"/>
          <a:lstStyle/>
          <a:p>
            <a:pPr marL="342900" indent="-342900">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A user sends a discovery request in Telegram</a:t>
            </a:r>
            <a:endParaRPr lang="en-US" sz="1250" dirty="0"/>
          </a:p>
          <a:p>
            <a:pPr marL="342900" indent="-342900">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Live status updates as the Discovery and Insight agents run</a:t>
            </a:r>
            <a:endParaRPr lang="en-US" sz="1250" dirty="0"/>
          </a:p>
          <a:p>
            <a:pPr marL="342900" indent="-342900">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A generated script delivered back in-chat for review</a:t>
            </a:r>
            <a:endParaRPr lang="en-US" sz="1250" dirty="0"/>
          </a:p>
          <a:p>
            <a:pPr marL="342900" indent="-342900">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The resulting AI video advertisement delivered as a file</a:t>
            </a:r>
            <a:endParaRPr lang="en-US" sz="1250" dirty="0"/>
          </a:p>
          <a:p>
            <a:pPr marL="342900" indent="-342900">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A look at the corresponding SQLite record and logs for that run</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Folder Structure</a:t>
            </a:r>
            <a:endParaRPr lang="en-US" sz="3200" dirty="0"/>
          </a:p>
        </p:txBody>
      </p:sp>
      <p:sp>
        <p:nvSpPr>
          <p:cNvPr id="3" name="Text 1"/>
          <p:cNvSpPr/>
          <p:nvPr/>
        </p:nvSpPr>
        <p:spPr>
          <a:xfrm>
            <a:off x="548640" y="1051560"/>
            <a:ext cx="10515600" cy="365760"/>
          </a:xfrm>
          <a:prstGeom prst="rect">
            <a:avLst/>
          </a:prstGeom>
          <a:noFill/>
          <a:ln/>
        </p:spPr>
        <p:txBody>
          <a:bodyPr wrap="square" lIns="0" tIns="0" rIns="0" bIns="0" rtlCol="0" anchor="ctr"/>
          <a:lstStyle/>
          <a:p>
            <a:pPr indent="0" marL="0">
              <a:buNone/>
            </a:pPr>
            <a:r>
              <a:rPr lang="en-US" sz="1300" i="1" dirty="0">
                <a:solidFill>
                  <a:srgbClr val="5A6B8C"/>
                </a:solidFill>
                <a:latin typeface="Calibri" pitchFamily="34" charset="0"/>
                <a:ea typeface="Calibri" pitchFamily="34" charset="-122"/>
                <a:cs typeface="Calibri" pitchFamily="34" charset="-120"/>
              </a:rPr>
              <a:t>Proposed repository layout (subject to change once code is committed)</a:t>
            </a:r>
            <a:endParaRPr lang="en-US" sz="1300" dirty="0"/>
          </a:p>
        </p:txBody>
      </p:sp>
      <p:sp>
        <p:nvSpPr>
          <p:cNvPr id="4" name="Shape 2"/>
          <p:cNvSpPr/>
          <p:nvPr/>
        </p:nvSpPr>
        <p:spPr>
          <a:xfrm>
            <a:off x="548640" y="1828800"/>
            <a:ext cx="11064240" cy="4206240"/>
          </a:xfrm>
          <a:prstGeom prst="roundRect">
            <a:avLst>
              <a:gd name="adj" fmla="val 1739"/>
            </a:avLst>
          </a:prstGeom>
          <a:solidFill>
            <a:srgbClr val="1B2340"/>
          </a:solidFill>
          <a:ln/>
        </p:spPr>
      </p:sp>
      <p:sp>
        <p:nvSpPr>
          <p:cNvPr id="5" name="Text 3"/>
          <p:cNvSpPr/>
          <p:nvPr/>
        </p:nvSpPr>
        <p:spPr>
          <a:xfrm>
            <a:off x="914400" y="2057400"/>
            <a:ext cx="10332720" cy="3749040"/>
          </a:xfrm>
          <a:prstGeom prst="rect">
            <a:avLst/>
          </a:prstGeom>
          <a:noFill/>
          <a:ln/>
        </p:spPr>
        <p:txBody>
          <a:bodyPr wrap="square" lIns="0" tIns="0" rIns="0" bIns="0" rtlCol="0" anchor="t"/>
          <a:lstStyle/>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hermes-marketing-agents/</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agents/</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 discovery_agent.py        # Apify-driven ad discovery</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 insight_agent.py          # Pattern &amp; insight extraction</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 script_agent.py           # Ad script generation (OpenRouter)</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 video_agent.py            # OpenMontage video rendering</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 telegram_agent.py         # Telegram bot interface</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 orchestrator.py           # Hermes pipeline coordination</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models/                       # Pydantic schemas</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integrations/</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 apify_client.py</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 openrouter_client.py</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 openmontage_client.py</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 telegram_client.py</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storage/                      # SQLite access layer</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config/                       # Environment &amp; settings</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docs/                         # Project documentation</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tests/</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Dockerfile</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docker-compose.yml</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requirements.txt</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README.md</a:t>
            </a:r>
            <a:endParaRPr lang="en-US" sz="1150" dirty="0"/>
          </a:p>
        </p:txBody>
      </p:sp>
      <p:sp>
        <p:nvSpPr>
          <p:cNvPr id="6" name="Text 4"/>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CADCFC"/>
                </a:solidFill>
                <a:latin typeface="Calibri" pitchFamily="34" charset="0"/>
                <a:ea typeface="Calibri" pitchFamily="34" charset="-122"/>
                <a:cs typeface="Calibri" pitchFamily="34" charset="-120"/>
              </a:rPr>
              <a:t>CrowdWisdomTrading  |  Hermes Marketing Agents</a:t>
            </a:r>
            <a:endParaRPr lang="en-US" sz="900" dirty="0"/>
          </a:p>
        </p:txBody>
      </p:sp>
      <p:sp>
        <p:nvSpPr>
          <p:cNvPr id="7"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Data Flow &amp; JSON Output</a:t>
            </a:r>
            <a:endParaRPr lang="en-US" sz="3200" dirty="0"/>
          </a:p>
        </p:txBody>
      </p:sp>
      <p:sp>
        <p:nvSpPr>
          <p:cNvPr id="3" name="Text 1"/>
          <p:cNvSpPr/>
          <p:nvPr/>
        </p:nvSpPr>
        <p:spPr>
          <a:xfrm>
            <a:off x="548640" y="1051560"/>
            <a:ext cx="9144000" cy="365760"/>
          </a:xfrm>
          <a:prstGeom prst="rect">
            <a:avLst/>
          </a:prstGeom>
          <a:noFill/>
          <a:ln/>
        </p:spPr>
        <p:txBody>
          <a:bodyPr wrap="square" lIns="0" tIns="0" rIns="0" bIns="0" rtlCol="0" anchor="ctr"/>
          <a:lstStyle/>
          <a:p>
            <a:pPr indent="0" marL="0">
              <a:buNone/>
            </a:pPr>
            <a:r>
              <a:rPr lang="en-US" sz="1300" i="1" dirty="0">
                <a:solidFill>
                  <a:srgbClr val="5A6B8C"/>
                </a:solidFill>
                <a:latin typeface="Calibri" pitchFamily="34" charset="0"/>
                <a:ea typeface="Calibri" pitchFamily="34" charset="-122"/>
                <a:cs typeface="Calibri" pitchFamily="34" charset="-120"/>
              </a:rPr>
              <a:t>How structured data moves between agents</a:t>
            </a:r>
            <a:endParaRPr lang="en-US" sz="1300" dirty="0"/>
          </a:p>
        </p:txBody>
      </p:sp>
      <p:sp>
        <p:nvSpPr>
          <p:cNvPr id="4" name="Shape 2"/>
          <p:cNvSpPr/>
          <p:nvPr/>
        </p:nvSpPr>
        <p:spPr>
          <a:xfrm>
            <a:off x="548640" y="1828800"/>
            <a:ext cx="5394960" cy="4206240"/>
          </a:xfrm>
          <a:prstGeom prst="roundRect">
            <a:avLst>
              <a:gd name="adj" fmla="val 1739"/>
            </a:avLst>
          </a:prstGeom>
          <a:solidFill>
            <a:srgbClr val="F7F9FC"/>
          </a:solidFill>
          <a:ln w="12700">
            <a:solidFill>
              <a:srgbClr val="CADCFC"/>
            </a:solidFill>
            <a:prstDash val="solid"/>
          </a:ln>
        </p:spPr>
      </p:sp>
      <p:sp>
        <p:nvSpPr>
          <p:cNvPr id="5" name="Text 3"/>
          <p:cNvSpPr/>
          <p:nvPr/>
        </p:nvSpPr>
        <p:spPr>
          <a:xfrm>
            <a:off x="914400" y="2057400"/>
            <a:ext cx="475488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Pipeline Data Contract</a:t>
            </a:r>
            <a:endParaRPr lang="en-US" sz="1500" dirty="0"/>
          </a:p>
        </p:txBody>
      </p:sp>
      <p:sp>
        <p:nvSpPr>
          <p:cNvPr id="6" name="Text 4"/>
          <p:cNvSpPr/>
          <p:nvPr/>
        </p:nvSpPr>
        <p:spPr>
          <a:xfrm>
            <a:off x="914400" y="2468880"/>
            <a:ext cx="4754880" cy="3291840"/>
          </a:xfrm>
          <a:prstGeom prst="rect">
            <a:avLst/>
          </a:prstGeom>
          <a:noFill/>
          <a:ln/>
        </p:spPr>
        <p:txBody>
          <a:bodyPr wrap="square" lIns="0" tIns="0" rIns="0" bIns="0" rtlCol="0" anchor="t"/>
          <a:lstStyle/>
          <a:p>
            <a:pPr marL="342900" indent="-342900">
              <a:spcAft>
                <a:spcPts val="1000"/>
              </a:spcAft>
              <a:buSzPct val="100000"/>
              <a:buChar char="•"/>
            </a:pPr>
            <a:r>
              <a:rPr lang="en-US" sz="1150" dirty="0">
                <a:solidFill>
                  <a:srgbClr val="1B2340"/>
                </a:solidFill>
                <a:latin typeface="Calibri" pitchFamily="34" charset="0"/>
                <a:ea typeface="Calibri" pitchFamily="34" charset="-122"/>
                <a:cs typeface="Calibri" pitchFamily="34" charset="-120"/>
              </a:rPr>
              <a:t>Every inter-agent handoff is a validated Pydantic model</a:t>
            </a:r>
            <a:endParaRPr lang="en-US" sz="1150" dirty="0"/>
          </a:p>
          <a:p>
            <a:pPr marL="342900" indent="-342900">
              <a:spcAft>
                <a:spcPts val="1000"/>
              </a:spcAft>
              <a:buSzPct val="100000"/>
              <a:buChar char="•"/>
            </a:pPr>
            <a:r>
              <a:rPr lang="en-US" sz="1150" dirty="0">
                <a:solidFill>
                  <a:srgbClr val="1B2340"/>
                </a:solidFill>
                <a:latin typeface="Calibri" pitchFamily="34" charset="0"/>
                <a:ea typeface="Calibri" pitchFamily="34" charset="-122"/>
                <a:cs typeface="Calibri" pitchFamily="34" charset="-120"/>
              </a:rPr>
              <a:t>Raw Apify output → normalized AdRecord objects</a:t>
            </a:r>
            <a:endParaRPr lang="en-US" sz="1150" dirty="0"/>
          </a:p>
          <a:p>
            <a:pPr marL="342900" indent="-342900">
              <a:spcAft>
                <a:spcPts val="1000"/>
              </a:spcAft>
              <a:buSzPct val="100000"/>
              <a:buChar char="•"/>
            </a:pPr>
            <a:r>
              <a:rPr lang="en-US" sz="1150" dirty="0">
                <a:solidFill>
                  <a:srgbClr val="1B2340"/>
                </a:solidFill>
                <a:latin typeface="Calibri" pitchFamily="34" charset="0"/>
                <a:ea typeface="Calibri" pitchFamily="34" charset="-122"/>
                <a:cs typeface="Calibri" pitchFamily="34" charset="-120"/>
              </a:rPr>
              <a:t>AdRecord list → InsightSummary object</a:t>
            </a:r>
            <a:endParaRPr lang="en-US" sz="1150" dirty="0"/>
          </a:p>
          <a:p>
            <a:pPr marL="342900" indent="-342900">
              <a:spcAft>
                <a:spcPts val="1000"/>
              </a:spcAft>
              <a:buSzPct val="100000"/>
              <a:buChar char="•"/>
            </a:pPr>
            <a:r>
              <a:rPr lang="en-US" sz="1150" dirty="0">
                <a:solidFill>
                  <a:srgbClr val="1B2340"/>
                </a:solidFill>
                <a:latin typeface="Calibri" pitchFamily="34" charset="0"/>
                <a:ea typeface="Calibri" pitchFamily="34" charset="-122"/>
                <a:cs typeface="Calibri" pitchFamily="34" charset="-120"/>
              </a:rPr>
              <a:t>InsightSummary → ScriptDraft object</a:t>
            </a:r>
            <a:endParaRPr lang="en-US" sz="1150" dirty="0"/>
          </a:p>
          <a:p>
            <a:pPr marL="342900" indent="-342900">
              <a:spcAft>
                <a:spcPts val="1000"/>
              </a:spcAft>
              <a:buSzPct val="100000"/>
              <a:buChar char="•"/>
            </a:pPr>
            <a:r>
              <a:rPr lang="en-US" sz="1150" dirty="0">
                <a:solidFill>
                  <a:srgbClr val="1B2340"/>
                </a:solidFill>
                <a:latin typeface="Calibri" pitchFamily="34" charset="0"/>
                <a:ea typeface="Calibri" pitchFamily="34" charset="-122"/>
                <a:cs typeface="Calibri" pitchFamily="34" charset="-120"/>
              </a:rPr>
              <a:t>ScriptDraft → VideoAsset object</a:t>
            </a:r>
            <a:endParaRPr lang="en-US" sz="1150" dirty="0"/>
          </a:p>
        </p:txBody>
      </p:sp>
      <p:sp>
        <p:nvSpPr>
          <p:cNvPr id="7" name="Shape 5"/>
          <p:cNvSpPr/>
          <p:nvPr/>
        </p:nvSpPr>
        <p:spPr>
          <a:xfrm>
            <a:off x="6217920" y="1828800"/>
            <a:ext cx="5422392" cy="4206240"/>
          </a:xfrm>
          <a:prstGeom prst="roundRect">
            <a:avLst>
              <a:gd name="adj" fmla="val 1739"/>
            </a:avLst>
          </a:prstGeom>
          <a:solidFill>
            <a:srgbClr val="1B2340"/>
          </a:solidFill>
          <a:ln/>
        </p:spPr>
      </p:sp>
      <p:sp>
        <p:nvSpPr>
          <p:cNvPr id="8" name="Text 6"/>
          <p:cNvSpPr/>
          <p:nvPr/>
        </p:nvSpPr>
        <p:spPr>
          <a:xfrm>
            <a:off x="6583680" y="2057400"/>
            <a:ext cx="475488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ScriptDraft — Example Shape</a:t>
            </a:r>
            <a:endParaRPr lang="en-US" sz="1400" dirty="0"/>
          </a:p>
        </p:txBody>
      </p:sp>
      <p:sp>
        <p:nvSpPr>
          <p:cNvPr id="9" name="Text 7"/>
          <p:cNvSpPr/>
          <p:nvPr/>
        </p:nvSpPr>
        <p:spPr>
          <a:xfrm>
            <a:off x="6583680" y="2514600"/>
            <a:ext cx="4846320" cy="3291840"/>
          </a:xfrm>
          <a:prstGeom prst="rect">
            <a:avLst/>
          </a:prstGeom>
          <a:noFill/>
          <a:ln/>
        </p:spPr>
        <p:txBody>
          <a:bodyPr wrap="square" lIns="0" tIns="0" rIns="0" bIns="0" rtlCol="0" anchor="t"/>
          <a:lstStyle/>
          <a:p>
            <a:pPr indent="0" marL="0">
              <a:lnSpc>
                <a:spcPct val="115000"/>
              </a:lnSpc>
              <a:buNone/>
            </a:pPr>
            <a:r>
              <a:rPr lang="en-US" sz="1100" dirty="0">
                <a:solidFill>
                  <a:srgbClr val="CADCFC"/>
                </a:solidFill>
                <a:latin typeface="Courier New" pitchFamily="34" charset="0"/>
                <a:ea typeface="Courier New" pitchFamily="34" charset="-122"/>
                <a:cs typeface="Courier New" pitchFamily="34" charset="-120"/>
              </a:rPr>
              <a:t>{</a:t>
            </a:r>
            <a:endParaRPr lang="en-US" sz="1100" dirty="0"/>
          </a:p>
          <a:p>
            <a:pPr indent="0" marL="0">
              <a:lnSpc>
                <a:spcPct val="115000"/>
              </a:lnSpc>
              <a:buNone/>
            </a:pPr>
            <a:r>
              <a:rPr lang="en-US" sz="1100" dirty="0">
                <a:solidFill>
                  <a:srgbClr val="CADCFC"/>
                </a:solidFill>
                <a:latin typeface="Courier New" pitchFamily="34" charset="0"/>
                <a:ea typeface="Courier New" pitchFamily="34" charset="-122"/>
                <a:cs typeface="Courier New" pitchFamily="34" charset="-120"/>
              </a:rPr>
              <a:t>  "run_id": "uuid",</a:t>
            </a:r>
            <a:endParaRPr lang="en-US" sz="1100" dirty="0"/>
          </a:p>
          <a:p>
            <a:pPr indent="0" marL="0">
              <a:lnSpc>
                <a:spcPct val="115000"/>
              </a:lnSpc>
              <a:buNone/>
            </a:pPr>
            <a:r>
              <a:rPr lang="en-US" sz="1100" dirty="0">
                <a:solidFill>
                  <a:srgbClr val="CADCFC"/>
                </a:solidFill>
                <a:latin typeface="Courier New" pitchFamily="34" charset="0"/>
                <a:ea typeface="Courier New" pitchFamily="34" charset="-122"/>
                <a:cs typeface="Courier New" pitchFamily="34" charset="-120"/>
              </a:rPr>
              <a:t>  "source_ad_ids": ["..."],</a:t>
            </a:r>
            <a:endParaRPr lang="en-US" sz="1100" dirty="0"/>
          </a:p>
          <a:p>
            <a:pPr indent="0" marL="0">
              <a:lnSpc>
                <a:spcPct val="115000"/>
              </a:lnSpc>
              <a:buNone/>
            </a:pPr>
            <a:r>
              <a:rPr lang="en-US" sz="1100" dirty="0">
                <a:solidFill>
                  <a:srgbClr val="CADCFC"/>
                </a:solidFill>
                <a:latin typeface="Courier New" pitchFamily="34" charset="0"/>
                <a:ea typeface="Courier New" pitchFamily="34" charset="-122"/>
                <a:cs typeface="Courier New" pitchFamily="34" charset="-120"/>
              </a:rPr>
              <a:t>  "insight_summary": "...",</a:t>
            </a:r>
            <a:endParaRPr lang="en-US" sz="1100" dirty="0"/>
          </a:p>
          <a:p>
            <a:pPr indent="0" marL="0">
              <a:lnSpc>
                <a:spcPct val="115000"/>
              </a:lnSpc>
              <a:buNone/>
            </a:pPr>
            <a:r>
              <a:rPr lang="en-US" sz="1100" dirty="0">
                <a:solidFill>
                  <a:srgbClr val="CADCFC"/>
                </a:solidFill>
                <a:latin typeface="Courier New" pitchFamily="34" charset="0"/>
                <a:ea typeface="Courier New" pitchFamily="34" charset="-122"/>
                <a:cs typeface="Courier New" pitchFamily="34" charset="-120"/>
              </a:rPr>
              <a:t>  "script": {</a:t>
            </a:r>
            <a:endParaRPr lang="en-US" sz="1100" dirty="0"/>
          </a:p>
          <a:p>
            <a:pPr indent="0" marL="0">
              <a:lnSpc>
                <a:spcPct val="115000"/>
              </a:lnSpc>
              <a:buNone/>
            </a:pPr>
            <a:r>
              <a:rPr lang="en-US" sz="1100" dirty="0">
                <a:solidFill>
                  <a:srgbClr val="CADCFC"/>
                </a:solidFill>
                <a:latin typeface="Courier New" pitchFamily="34" charset="0"/>
                <a:ea typeface="Courier New" pitchFamily="34" charset="-122"/>
                <a:cs typeface="Courier New" pitchFamily="34" charset="-120"/>
              </a:rPr>
              <a:t>    "hook": "...",</a:t>
            </a:r>
            <a:endParaRPr lang="en-US" sz="1100" dirty="0"/>
          </a:p>
          <a:p>
            <a:pPr indent="0" marL="0">
              <a:lnSpc>
                <a:spcPct val="115000"/>
              </a:lnSpc>
              <a:buNone/>
            </a:pPr>
            <a:r>
              <a:rPr lang="en-US" sz="1100" dirty="0">
                <a:solidFill>
                  <a:srgbClr val="CADCFC"/>
                </a:solidFill>
                <a:latin typeface="Courier New" pitchFamily="34" charset="0"/>
                <a:ea typeface="Courier New" pitchFamily="34" charset="-122"/>
                <a:cs typeface="Courier New" pitchFamily="34" charset="-120"/>
              </a:rPr>
              <a:t>    "body": "...",</a:t>
            </a:r>
            <a:endParaRPr lang="en-US" sz="1100" dirty="0"/>
          </a:p>
          <a:p>
            <a:pPr indent="0" marL="0">
              <a:lnSpc>
                <a:spcPct val="115000"/>
              </a:lnSpc>
              <a:buNone/>
            </a:pPr>
            <a:r>
              <a:rPr lang="en-US" sz="1100" dirty="0">
                <a:solidFill>
                  <a:srgbClr val="CADCFC"/>
                </a:solidFill>
                <a:latin typeface="Courier New" pitchFamily="34" charset="0"/>
                <a:ea typeface="Courier New" pitchFamily="34" charset="-122"/>
                <a:cs typeface="Courier New" pitchFamily="34" charset="-120"/>
              </a:rPr>
              <a:t>    "cta": "..."</a:t>
            </a:r>
            <a:endParaRPr lang="en-US" sz="1100" dirty="0"/>
          </a:p>
          <a:p>
            <a:pPr indent="0" marL="0">
              <a:lnSpc>
                <a:spcPct val="115000"/>
              </a:lnSpc>
              <a:buNone/>
            </a:pPr>
            <a:r>
              <a:rPr lang="en-US" sz="1100" dirty="0">
                <a:solidFill>
                  <a:srgbClr val="CADCFC"/>
                </a:solidFill>
                <a:latin typeface="Courier New" pitchFamily="34" charset="0"/>
                <a:ea typeface="Courier New" pitchFamily="34" charset="-122"/>
                <a:cs typeface="Courier New" pitchFamily="34" charset="-120"/>
              </a:rPr>
              <a:t>  },</a:t>
            </a:r>
            <a:endParaRPr lang="en-US" sz="1100" dirty="0"/>
          </a:p>
          <a:p>
            <a:pPr indent="0" marL="0">
              <a:lnSpc>
                <a:spcPct val="115000"/>
              </a:lnSpc>
              <a:buNone/>
            </a:pPr>
            <a:r>
              <a:rPr lang="en-US" sz="1100" dirty="0">
                <a:solidFill>
                  <a:srgbClr val="CADCFC"/>
                </a:solidFill>
                <a:latin typeface="Courier New" pitchFamily="34" charset="0"/>
                <a:ea typeface="Courier New" pitchFamily="34" charset="-122"/>
                <a:cs typeface="Courier New" pitchFamily="34" charset="-120"/>
              </a:rPr>
              <a:t>  "target_model": "openrouter/...",</a:t>
            </a:r>
            <a:endParaRPr lang="en-US" sz="1100" dirty="0"/>
          </a:p>
          <a:p>
            <a:pPr indent="0" marL="0">
              <a:lnSpc>
                <a:spcPct val="115000"/>
              </a:lnSpc>
              <a:buNone/>
            </a:pPr>
            <a:r>
              <a:rPr lang="en-US" sz="1100" dirty="0">
                <a:solidFill>
                  <a:srgbClr val="CADCFC"/>
                </a:solidFill>
                <a:latin typeface="Courier New" pitchFamily="34" charset="0"/>
                <a:ea typeface="Courier New" pitchFamily="34" charset="-122"/>
                <a:cs typeface="Courier New" pitchFamily="34" charset="-120"/>
              </a:rPr>
              <a:t>  "status": "ready_for_video",</a:t>
            </a:r>
            <a:endParaRPr lang="en-US" sz="1100" dirty="0"/>
          </a:p>
          <a:p>
            <a:pPr indent="0" marL="0">
              <a:lnSpc>
                <a:spcPct val="115000"/>
              </a:lnSpc>
              <a:buNone/>
            </a:pPr>
            <a:r>
              <a:rPr lang="en-US" sz="1100" dirty="0">
                <a:solidFill>
                  <a:srgbClr val="CADCFC"/>
                </a:solidFill>
                <a:latin typeface="Courier New" pitchFamily="34" charset="0"/>
                <a:ea typeface="Courier New" pitchFamily="34" charset="-122"/>
                <a:cs typeface="Courier New" pitchFamily="34" charset="-120"/>
              </a:rPr>
              <a:t>  "created_at": "ISO-8601"</a:t>
            </a:r>
            <a:endParaRPr lang="en-US" sz="1100" dirty="0"/>
          </a:p>
          <a:p>
            <a:pPr indent="0" marL="0">
              <a:lnSpc>
                <a:spcPct val="115000"/>
              </a:lnSpc>
              <a:buNone/>
            </a:pPr>
            <a:r>
              <a:rPr lang="en-US" sz="1100" dirty="0">
                <a:solidFill>
                  <a:srgbClr val="CADCFC"/>
                </a:solidFill>
                <a:latin typeface="Courier New" pitchFamily="34" charset="0"/>
                <a:ea typeface="Courier New" pitchFamily="34" charset="-122"/>
                <a:cs typeface="Courier New" pitchFamily="34" charset="-120"/>
              </a:rPr>
              <a:t>}</a:t>
            </a:r>
            <a:endParaRPr lang="en-US" sz="1100" dirty="0"/>
          </a:p>
        </p:txBody>
      </p:sp>
      <p:sp>
        <p:nvSpPr>
          <p:cNvPr id="10" name="Text 8"/>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CrowdWisdomTrading  |  Hermes Marketing Agents</a:t>
            </a:r>
            <a:endParaRPr lang="en-US" sz="900" dirty="0"/>
          </a:p>
        </p:txBody>
      </p:sp>
      <p:sp>
        <p:nvSpPr>
          <p:cNvPr id="11" name="Text 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Anticipated Challenges</a:t>
            </a:r>
            <a:endParaRPr lang="en-US" sz="3200" dirty="0"/>
          </a:p>
        </p:txBody>
      </p:sp>
      <p:sp>
        <p:nvSpPr>
          <p:cNvPr id="3" name="Text 1"/>
          <p:cNvSpPr/>
          <p:nvPr/>
        </p:nvSpPr>
        <p:spPr>
          <a:xfrm>
            <a:off x="548640" y="1051560"/>
            <a:ext cx="9144000" cy="365760"/>
          </a:xfrm>
          <a:prstGeom prst="rect">
            <a:avLst/>
          </a:prstGeom>
          <a:noFill/>
          <a:ln/>
        </p:spPr>
        <p:txBody>
          <a:bodyPr wrap="square" lIns="0" tIns="0" rIns="0" bIns="0" rtlCol="0" anchor="ctr"/>
          <a:lstStyle/>
          <a:p>
            <a:pPr indent="0" marL="0">
              <a:buNone/>
            </a:pPr>
            <a:r>
              <a:rPr lang="en-US" sz="1300" i="1" dirty="0">
                <a:solidFill>
                  <a:srgbClr val="5A6B8C"/>
                </a:solidFill>
                <a:latin typeface="Calibri" pitchFamily="34" charset="0"/>
                <a:ea typeface="Calibri" pitchFamily="34" charset="-122"/>
                <a:cs typeface="Calibri" pitchFamily="34" charset="-120"/>
              </a:rPr>
              <a:t>Risks identified during architecture planning</a:t>
            </a:r>
            <a:endParaRPr lang="en-US" sz="1300" dirty="0"/>
          </a:p>
        </p:txBody>
      </p:sp>
      <p:sp>
        <p:nvSpPr>
          <p:cNvPr id="4" name="Shape 2"/>
          <p:cNvSpPr/>
          <p:nvPr/>
        </p:nvSpPr>
        <p:spPr>
          <a:xfrm>
            <a:off x="548640" y="1828800"/>
            <a:ext cx="5349240" cy="1965960"/>
          </a:xfrm>
          <a:prstGeom prst="roundRect">
            <a:avLst>
              <a:gd name="adj" fmla="val 3721"/>
            </a:avLst>
          </a:prstGeom>
          <a:solidFill>
            <a:srgbClr val="FFFFFF"/>
          </a:solidFill>
          <a:ln/>
          <a:effectLst>
            <a:outerShdw sx="100000" sy="100000" kx="0" ky="0" algn="bl" rotWithShape="0" blurRad="63500" dist="25400" dir="5400000">
              <a:srgbClr val="1B2340">
                <a:alpha val="16000"/>
              </a:srgbClr>
            </a:outerShdw>
          </a:effectLst>
        </p:spPr>
      </p:sp>
      <p:sp>
        <p:nvSpPr>
          <p:cNvPr id="5" name="Shape 3"/>
          <p:cNvSpPr/>
          <p:nvPr/>
        </p:nvSpPr>
        <p:spPr>
          <a:xfrm>
            <a:off x="804672" y="2084832"/>
            <a:ext cx="502920" cy="502920"/>
          </a:xfrm>
          <a:prstGeom prst="ellipse">
            <a:avLst/>
          </a:prstGeom>
          <a:solidFill>
            <a:srgbClr val="F2B705"/>
          </a:solidFill>
          <a:ln/>
        </p:spPr>
      </p:sp>
      <p:sp>
        <p:nvSpPr>
          <p:cNvPr id="6" name="Text 4"/>
          <p:cNvSpPr/>
          <p:nvPr/>
        </p:nvSpPr>
        <p:spPr>
          <a:xfrm>
            <a:off x="804672" y="2084832"/>
            <a:ext cx="502920" cy="502920"/>
          </a:xfrm>
          <a:prstGeom prst="rect">
            <a:avLst/>
          </a:prstGeom>
          <a:noFill/>
          <a:ln/>
        </p:spPr>
        <p:txBody>
          <a:bodyPr wrap="square" lIns="0" tIns="0" rIns="0" bIns="0"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1508760" y="2084832"/>
            <a:ext cx="416052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Scraping Reliability</a:t>
            </a:r>
            <a:endParaRPr lang="en-US" sz="1400" dirty="0"/>
          </a:p>
        </p:txBody>
      </p:sp>
      <p:sp>
        <p:nvSpPr>
          <p:cNvPr id="8" name="Text 6"/>
          <p:cNvSpPr/>
          <p:nvPr/>
        </p:nvSpPr>
        <p:spPr>
          <a:xfrm>
            <a:off x="1508760" y="2487168"/>
            <a:ext cx="4160520" cy="1143000"/>
          </a:xfrm>
          <a:prstGeom prst="rect">
            <a:avLst/>
          </a:prstGeom>
          <a:noFill/>
          <a:ln/>
        </p:spPr>
        <p:txBody>
          <a:bodyPr wrap="square" lIns="0" tIns="0" rIns="0" bIns="0" rtlCol="0" anchor="ctr"/>
          <a:lstStyle/>
          <a:p>
            <a:pPr indent="0" marL="0">
              <a:lnSpc>
                <a:spcPct val="125000"/>
              </a:lnSpc>
              <a:buNone/>
            </a:pPr>
            <a:r>
              <a:rPr lang="en-US" sz="1100" dirty="0">
                <a:solidFill>
                  <a:srgbClr val="1B2340"/>
                </a:solidFill>
                <a:latin typeface="Calibri" pitchFamily="34" charset="0"/>
                <a:ea typeface="Calibri" pitchFamily="34" charset="-122"/>
                <a:cs typeface="Calibri" pitchFamily="34" charset="-120"/>
              </a:rPr>
              <a:t>Meta Ad Library structure and Apify actor behavior can change, requiring resilient parsing.</a:t>
            </a:r>
            <a:endParaRPr lang="en-US" sz="1100" dirty="0"/>
          </a:p>
        </p:txBody>
      </p:sp>
      <p:sp>
        <p:nvSpPr>
          <p:cNvPr id="9" name="Shape 7"/>
          <p:cNvSpPr/>
          <p:nvPr/>
        </p:nvSpPr>
        <p:spPr>
          <a:xfrm>
            <a:off x="6172200" y="1828800"/>
            <a:ext cx="5349240" cy="1965960"/>
          </a:xfrm>
          <a:prstGeom prst="roundRect">
            <a:avLst>
              <a:gd name="adj" fmla="val 3721"/>
            </a:avLst>
          </a:prstGeom>
          <a:solidFill>
            <a:srgbClr val="FFFFFF"/>
          </a:solidFill>
          <a:ln/>
          <a:effectLst>
            <a:outerShdw sx="100000" sy="100000" kx="0" ky="0" algn="bl" rotWithShape="0" blurRad="63500" dist="25400" dir="5400000">
              <a:srgbClr val="1B2340">
                <a:alpha val="16000"/>
              </a:srgbClr>
            </a:outerShdw>
          </a:effectLst>
        </p:spPr>
      </p:sp>
      <p:sp>
        <p:nvSpPr>
          <p:cNvPr id="10" name="Shape 8"/>
          <p:cNvSpPr/>
          <p:nvPr/>
        </p:nvSpPr>
        <p:spPr>
          <a:xfrm>
            <a:off x="6428232" y="2084832"/>
            <a:ext cx="502920" cy="502920"/>
          </a:xfrm>
          <a:prstGeom prst="ellipse">
            <a:avLst/>
          </a:prstGeom>
          <a:solidFill>
            <a:srgbClr val="F2B705"/>
          </a:solidFill>
          <a:ln/>
        </p:spPr>
      </p:sp>
      <p:sp>
        <p:nvSpPr>
          <p:cNvPr id="11" name="Text 9"/>
          <p:cNvSpPr/>
          <p:nvPr/>
        </p:nvSpPr>
        <p:spPr>
          <a:xfrm>
            <a:off x="6428232" y="2084832"/>
            <a:ext cx="502920" cy="502920"/>
          </a:xfrm>
          <a:prstGeom prst="rect">
            <a:avLst/>
          </a:prstGeom>
          <a:noFill/>
          <a:ln/>
        </p:spPr>
        <p:txBody>
          <a:bodyPr wrap="square" lIns="0" tIns="0" rIns="0" bIns="0"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7132320" y="2084832"/>
            <a:ext cx="416052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Model Cost &amp; Latency</a:t>
            </a:r>
            <a:endParaRPr lang="en-US" sz="1400" dirty="0"/>
          </a:p>
        </p:txBody>
      </p:sp>
      <p:sp>
        <p:nvSpPr>
          <p:cNvPr id="13" name="Text 11"/>
          <p:cNvSpPr/>
          <p:nvPr/>
        </p:nvSpPr>
        <p:spPr>
          <a:xfrm>
            <a:off x="7132320" y="2487168"/>
            <a:ext cx="4160520" cy="1143000"/>
          </a:xfrm>
          <a:prstGeom prst="rect">
            <a:avLst/>
          </a:prstGeom>
          <a:noFill/>
          <a:ln/>
        </p:spPr>
        <p:txBody>
          <a:bodyPr wrap="square" lIns="0" tIns="0" rIns="0" bIns="0" rtlCol="0" anchor="ctr"/>
          <a:lstStyle/>
          <a:p>
            <a:pPr indent="0" marL="0">
              <a:lnSpc>
                <a:spcPct val="125000"/>
              </a:lnSpc>
              <a:buNone/>
            </a:pPr>
            <a:r>
              <a:rPr lang="en-US" sz="1100" dirty="0">
                <a:solidFill>
                  <a:srgbClr val="1B2340"/>
                </a:solidFill>
                <a:latin typeface="Calibri" pitchFamily="34" charset="0"/>
                <a:ea typeface="Calibri" pitchFamily="34" charset="-122"/>
                <a:cs typeface="Calibri" pitchFamily="34" charset="-120"/>
              </a:rPr>
              <a:t>Multi-step LLM calls per run must balance quality against OpenRouter cost and response time.</a:t>
            </a:r>
            <a:endParaRPr lang="en-US" sz="1100" dirty="0"/>
          </a:p>
        </p:txBody>
      </p:sp>
      <p:sp>
        <p:nvSpPr>
          <p:cNvPr id="14" name="Shape 12"/>
          <p:cNvSpPr/>
          <p:nvPr/>
        </p:nvSpPr>
        <p:spPr>
          <a:xfrm>
            <a:off x="548640" y="4069080"/>
            <a:ext cx="5349240" cy="1965960"/>
          </a:xfrm>
          <a:prstGeom prst="roundRect">
            <a:avLst>
              <a:gd name="adj" fmla="val 3721"/>
            </a:avLst>
          </a:prstGeom>
          <a:solidFill>
            <a:srgbClr val="FFFFFF"/>
          </a:solidFill>
          <a:ln/>
          <a:effectLst>
            <a:outerShdw sx="100000" sy="100000" kx="0" ky="0" algn="bl" rotWithShape="0" blurRad="63500" dist="25400" dir="5400000">
              <a:srgbClr val="1B2340">
                <a:alpha val="16000"/>
              </a:srgbClr>
            </a:outerShdw>
          </a:effectLst>
        </p:spPr>
      </p:sp>
      <p:sp>
        <p:nvSpPr>
          <p:cNvPr id="15" name="Shape 13"/>
          <p:cNvSpPr/>
          <p:nvPr/>
        </p:nvSpPr>
        <p:spPr>
          <a:xfrm>
            <a:off x="804672" y="4325112"/>
            <a:ext cx="502920" cy="502920"/>
          </a:xfrm>
          <a:prstGeom prst="ellipse">
            <a:avLst/>
          </a:prstGeom>
          <a:solidFill>
            <a:srgbClr val="F2B705"/>
          </a:solidFill>
          <a:ln/>
        </p:spPr>
      </p:sp>
      <p:sp>
        <p:nvSpPr>
          <p:cNvPr id="16" name="Text 14"/>
          <p:cNvSpPr/>
          <p:nvPr/>
        </p:nvSpPr>
        <p:spPr>
          <a:xfrm>
            <a:off x="804672" y="4325112"/>
            <a:ext cx="502920" cy="502920"/>
          </a:xfrm>
          <a:prstGeom prst="rect">
            <a:avLst/>
          </a:prstGeom>
          <a:noFill/>
          <a:ln/>
        </p:spPr>
        <p:txBody>
          <a:bodyPr wrap="square" lIns="0" tIns="0" rIns="0" bIns="0"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1508760" y="4325112"/>
            <a:ext cx="416052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Video Render Time</a:t>
            </a:r>
            <a:endParaRPr lang="en-US" sz="1400" dirty="0"/>
          </a:p>
        </p:txBody>
      </p:sp>
      <p:sp>
        <p:nvSpPr>
          <p:cNvPr id="18" name="Text 16"/>
          <p:cNvSpPr/>
          <p:nvPr/>
        </p:nvSpPr>
        <p:spPr>
          <a:xfrm>
            <a:off x="1508760" y="4727448"/>
            <a:ext cx="4160520" cy="1143000"/>
          </a:xfrm>
          <a:prstGeom prst="rect">
            <a:avLst/>
          </a:prstGeom>
          <a:noFill/>
          <a:ln/>
        </p:spPr>
        <p:txBody>
          <a:bodyPr wrap="square" lIns="0" tIns="0" rIns="0" bIns="0" rtlCol="0" anchor="ctr"/>
          <a:lstStyle/>
          <a:p>
            <a:pPr indent="0" marL="0">
              <a:lnSpc>
                <a:spcPct val="125000"/>
              </a:lnSpc>
              <a:buNone/>
            </a:pPr>
            <a:r>
              <a:rPr lang="en-US" sz="1100" dirty="0">
                <a:solidFill>
                  <a:srgbClr val="1B2340"/>
                </a:solidFill>
                <a:latin typeface="Calibri" pitchFamily="34" charset="0"/>
                <a:ea typeface="Calibri" pitchFamily="34" charset="-122"/>
                <a:cs typeface="Calibri" pitchFamily="34" charset="-120"/>
              </a:rPr>
              <a:t>OpenMontage rendering is inherently slow, requiring async handling and clear user feedback.</a:t>
            </a:r>
            <a:endParaRPr lang="en-US" sz="1100" dirty="0"/>
          </a:p>
        </p:txBody>
      </p:sp>
      <p:sp>
        <p:nvSpPr>
          <p:cNvPr id="19" name="Shape 17"/>
          <p:cNvSpPr/>
          <p:nvPr/>
        </p:nvSpPr>
        <p:spPr>
          <a:xfrm>
            <a:off x="6172200" y="4069080"/>
            <a:ext cx="5349240" cy="1965960"/>
          </a:xfrm>
          <a:prstGeom prst="roundRect">
            <a:avLst>
              <a:gd name="adj" fmla="val 3721"/>
            </a:avLst>
          </a:prstGeom>
          <a:solidFill>
            <a:srgbClr val="FFFFFF"/>
          </a:solidFill>
          <a:ln/>
          <a:effectLst>
            <a:outerShdw sx="100000" sy="100000" kx="0" ky="0" algn="bl" rotWithShape="0" blurRad="63500" dist="25400" dir="5400000">
              <a:srgbClr val="1B2340">
                <a:alpha val="16000"/>
              </a:srgbClr>
            </a:outerShdw>
          </a:effectLst>
        </p:spPr>
      </p:sp>
      <p:sp>
        <p:nvSpPr>
          <p:cNvPr id="20" name="Shape 18"/>
          <p:cNvSpPr/>
          <p:nvPr/>
        </p:nvSpPr>
        <p:spPr>
          <a:xfrm>
            <a:off x="6428232" y="4325112"/>
            <a:ext cx="502920" cy="502920"/>
          </a:xfrm>
          <a:prstGeom prst="ellipse">
            <a:avLst/>
          </a:prstGeom>
          <a:solidFill>
            <a:srgbClr val="F2B705"/>
          </a:solidFill>
          <a:ln/>
        </p:spPr>
      </p:sp>
      <p:sp>
        <p:nvSpPr>
          <p:cNvPr id="21" name="Text 19"/>
          <p:cNvSpPr/>
          <p:nvPr/>
        </p:nvSpPr>
        <p:spPr>
          <a:xfrm>
            <a:off x="6428232" y="4325112"/>
            <a:ext cx="502920" cy="502920"/>
          </a:xfrm>
          <a:prstGeom prst="rect">
            <a:avLst/>
          </a:prstGeom>
          <a:noFill/>
          <a:ln/>
        </p:spPr>
        <p:txBody>
          <a:bodyPr wrap="square" lIns="0" tIns="0" rIns="0" bIns="0"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7132320" y="4325112"/>
            <a:ext cx="416052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Agent Coordination</a:t>
            </a:r>
            <a:endParaRPr lang="en-US" sz="1400" dirty="0"/>
          </a:p>
        </p:txBody>
      </p:sp>
      <p:sp>
        <p:nvSpPr>
          <p:cNvPr id="23" name="Text 21"/>
          <p:cNvSpPr/>
          <p:nvPr/>
        </p:nvSpPr>
        <p:spPr>
          <a:xfrm>
            <a:off x="7132320" y="4727448"/>
            <a:ext cx="4160520" cy="1143000"/>
          </a:xfrm>
          <a:prstGeom prst="rect">
            <a:avLst/>
          </a:prstGeom>
          <a:noFill/>
          <a:ln/>
        </p:spPr>
        <p:txBody>
          <a:bodyPr wrap="square" lIns="0" tIns="0" rIns="0" bIns="0" rtlCol="0" anchor="ctr"/>
          <a:lstStyle/>
          <a:p>
            <a:pPr indent="0" marL="0">
              <a:lnSpc>
                <a:spcPct val="125000"/>
              </a:lnSpc>
              <a:buNone/>
            </a:pPr>
            <a:r>
              <a:rPr lang="en-US" sz="1100" dirty="0">
                <a:solidFill>
                  <a:srgbClr val="1B2340"/>
                </a:solidFill>
                <a:latin typeface="Calibri" pitchFamily="34" charset="0"/>
                <a:ea typeface="Calibri" pitchFamily="34" charset="-122"/>
                <a:cs typeface="Calibri" pitchFamily="34" charset="-120"/>
              </a:rPr>
              <a:t>Keeping Hermes agent state consistent across a multi-stage pipeline with partial failures.</a:t>
            </a:r>
            <a:endParaRPr lang="en-US" sz="1100" dirty="0"/>
          </a:p>
        </p:txBody>
      </p:sp>
      <p:sp>
        <p:nvSpPr>
          <p:cNvPr id="24" name="Text 22"/>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CrowdWisdomTrading  |  Hermes Marketing Agents</a:t>
            </a:r>
            <a:endParaRPr lang="en-US" sz="900" dirty="0"/>
          </a:p>
        </p:txBody>
      </p:sp>
      <p:sp>
        <p:nvSpPr>
          <p:cNvPr id="25" name="Text 2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Future Scope</a:t>
            </a:r>
            <a:endParaRPr lang="en-US" sz="3200" dirty="0"/>
          </a:p>
        </p:txBody>
      </p:sp>
      <p:sp>
        <p:nvSpPr>
          <p:cNvPr id="3" name="Text 1"/>
          <p:cNvSpPr/>
          <p:nvPr/>
        </p:nvSpPr>
        <p:spPr>
          <a:xfrm>
            <a:off x="548640" y="1051560"/>
            <a:ext cx="9144000" cy="365760"/>
          </a:xfrm>
          <a:prstGeom prst="rect">
            <a:avLst/>
          </a:prstGeom>
          <a:noFill/>
          <a:ln/>
        </p:spPr>
        <p:txBody>
          <a:bodyPr wrap="square" lIns="0" tIns="0" rIns="0" bIns="0" rtlCol="0" anchor="ctr"/>
          <a:lstStyle/>
          <a:p>
            <a:pPr indent="0" marL="0">
              <a:buNone/>
            </a:pPr>
            <a:r>
              <a:rPr lang="en-US" sz="1300" i="1" dirty="0">
                <a:solidFill>
                  <a:srgbClr val="5A6B8C"/>
                </a:solidFill>
                <a:latin typeface="Calibri" pitchFamily="34" charset="0"/>
                <a:ea typeface="Calibri" pitchFamily="34" charset="-122"/>
                <a:cs typeface="Calibri" pitchFamily="34" charset="-120"/>
              </a:rPr>
              <a:t>Extensions beyond the initial production release</a:t>
            </a:r>
            <a:endParaRPr lang="en-US" sz="1300" dirty="0"/>
          </a:p>
        </p:txBody>
      </p:sp>
      <p:sp>
        <p:nvSpPr>
          <p:cNvPr id="4" name="Shape 2"/>
          <p:cNvSpPr/>
          <p:nvPr/>
        </p:nvSpPr>
        <p:spPr>
          <a:xfrm>
            <a:off x="822960" y="1874520"/>
            <a:ext cx="10515600" cy="521208"/>
          </a:xfrm>
          <a:prstGeom prst="roundRect">
            <a:avLst>
              <a:gd name="adj" fmla="val 10526"/>
            </a:avLst>
          </a:prstGeom>
          <a:solidFill>
            <a:srgbClr val="F7F9FC"/>
          </a:solidFill>
          <a:ln w="9525">
            <a:solidFill>
              <a:srgbClr val="CADCFC"/>
            </a:solidFill>
            <a:prstDash val="solid"/>
          </a:ln>
        </p:spPr>
      </p:sp>
      <p:sp>
        <p:nvSpPr>
          <p:cNvPr id="5" name="Shape 3"/>
          <p:cNvSpPr/>
          <p:nvPr/>
        </p:nvSpPr>
        <p:spPr>
          <a:xfrm>
            <a:off x="960120" y="1961388"/>
            <a:ext cx="347472" cy="347472"/>
          </a:xfrm>
          <a:prstGeom prst="ellipse">
            <a:avLst/>
          </a:prstGeom>
          <a:solidFill>
            <a:srgbClr val="1E2761"/>
          </a:solidFill>
          <a:ln/>
        </p:spPr>
      </p:sp>
      <p:sp>
        <p:nvSpPr>
          <p:cNvPr id="6" name="Text 4"/>
          <p:cNvSpPr/>
          <p:nvPr/>
        </p:nvSpPr>
        <p:spPr>
          <a:xfrm>
            <a:off x="960120" y="196138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508760" y="1874520"/>
            <a:ext cx="9601200" cy="521208"/>
          </a:xfrm>
          <a:prstGeom prst="rect">
            <a:avLst/>
          </a:prstGeom>
          <a:noFill/>
          <a:ln/>
        </p:spPr>
        <p:txBody>
          <a:bodyPr wrap="square" lIns="0" tIns="0" rIns="0" bIns="0" rtlCol="0" anchor="ctr"/>
          <a:lstStyle/>
          <a:p>
            <a:pPr indent="0" marL="0">
              <a:buNone/>
            </a:pPr>
            <a:r>
              <a:rPr lang="en-US" sz="1250" dirty="0">
                <a:solidFill>
                  <a:srgbClr val="1B2340"/>
                </a:solidFill>
                <a:latin typeface="Calibri" pitchFamily="34" charset="0"/>
                <a:ea typeface="Calibri" pitchFamily="34" charset="-122"/>
                <a:cs typeface="Calibri" pitchFamily="34" charset="-120"/>
              </a:rPr>
              <a:t>Expand discovery beyond Meta to additional ad networks</a:t>
            </a:r>
            <a:endParaRPr lang="en-US" sz="1250" dirty="0"/>
          </a:p>
        </p:txBody>
      </p:sp>
      <p:sp>
        <p:nvSpPr>
          <p:cNvPr id="8" name="Shape 6"/>
          <p:cNvSpPr/>
          <p:nvPr/>
        </p:nvSpPr>
        <p:spPr>
          <a:xfrm>
            <a:off x="822960" y="2532888"/>
            <a:ext cx="10515600" cy="521208"/>
          </a:xfrm>
          <a:prstGeom prst="roundRect">
            <a:avLst>
              <a:gd name="adj" fmla="val 10526"/>
            </a:avLst>
          </a:prstGeom>
          <a:solidFill>
            <a:srgbClr val="FFFFFF"/>
          </a:solidFill>
          <a:ln w="9525">
            <a:solidFill>
              <a:srgbClr val="CADCFC"/>
            </a:solidFill>
            <a:prstDash val="solid"/>
          </a:ln>
        </p:spPr>
      </p:sp>
      <p:sp>
        <p:nvSpPr>
          <p:cNvPr id="9" name="Shape 7"/>
          <p:cNvSpPr/>
          <p:nvPr/>
        </p:nvSpPr>
        <p:spPr>
          <a:xfrm>
            <a:off x="960120" y="2619756"/>
            <a:ext cx="347472" cy="347472"/>
          </a:xfrm>
          <a:prstGeom prst="ellipse">
            <a:avLst/>
          </a:prstGeom>
          <a:solidFill>
            <a:srgbClr val="1E2761"/>
          </a:solidFill>
          <a:ln/>
        </p:spPr>
      </p:sp>
      <p:sp>
        <p:nvSpPr>
          <p:cNvPr id="10" name="Text 8"/>
          <p:cNvSpPr/>
          <p:nvPr/>
        </p:nvSpPr>
        <p:spPr>
          <a:xfrm>
            <a:off x="960120" y="261975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508760" y="2532888"/>
            <a:ext cx="9601200" cy="521208"/>
          </a:xfrm>
          <a:prstGeom prst="rect">
            <a:avLst/>
          </a:prstGeom>
          <a:noFill/>
          <a:ln/>
        </p:spPr>
        <p:txBody>
          <a:bodyPr wrap="square" lIns="0" tIns="0" rIns="0" bIns="0" rtlCol="0" anchor="ctr"/>
          <a:lstStyle/>
          <a:p>
            <a:pPr indent="0" marL="0">
              <a:buNone/>
            </a:pPr>
            <a:r>
              <a:rPr lang="en-US" sz="1250" dirty="0">
                <a:solidFill>
                  <a:srgbClr val="1B2340"/>
                </a:solidFill>
                <a:latin typeface="Calibri" pitchFamily="34" charset="0"/>
                <a:ea typeface="Calibri" pitchFamily="34" charset="-122"/>
                <a:cs typeface="Calibri" pitchFamily="34" charset="-120"/>
              </a:rPr>
              <a:t>A/B test generated scripts automatically against benchmarks</a:t>
            </a:r>
            <a:endParaRPr lang="en-US" sz="1250" dirty="0"/>
          </a:p>
        </p:txBody>
      </p:sp>
      <p:sp>
        <p:nvSpPr>
          <p:cNvPr id="12" name="Shape 10"/>
          <p:cNvSpPr/>
          <p:nvPr/>
        </p:nvSpPr>
        <p:spPr>
          <a:xfrm>
            <a:off x="822960" y="3191256"/>
            <a:ext cx="10515600" cy="521208"/>
          </a:xfrm>
          <a:prstGeom prst="roundRect">
            <a:avLst>
              <a:gd name="adj" fmla="val 10526"/>
            </a:avLst>
          </a:prstGeom>
          <a:solidFill>
            <a:srgbClr val="F7F9FC"/>
          </a:solidFill>
          <a:ln w="9525">
            <a:solidFill>
              <a:srgbClr val="CADCFC"/>
            </a:solidFill>
            <a:prstDash val="solid"/>
          </a:ln>
        </p:spPr>
      </p:sp>
      <p:sp>
        <p:nvSpPr>
          <p:cNvPr id="13" name="Shape 11"/>
          <p:cNvSpPr/>
          <p:nvPr/>
        </p:nvSpPr>
        <p:spPr>
          <a:xfrm>
            <a:off x="960120" y="3278124"/>
            <a:ext cx="347472" cy="347472"/>
          </a:xfrm>
          <a:prstGeom prst="ellipse">
            <a:avLst/>
          </a:prstGeom>
          <a:solidFill>
            <a:srgbClr val="1E2761"/>
          </a:solidFill>
          <a:ln/>
        </p:spPr>
      </p:sp>
      <p:sp>
        <p:nvSpPr>
          <p:cNvPr id="14" name="Text 12"/>
          <p:cNvSpPr/>
          <p:nvPr/>
        </p:nvSpPr>
        <p:spPr>
          <a:xfrm>
            <a:off x="960120" y="327812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508760" y="3191256"/>
            <a:ext cx="9601200" cy="521208"/>
          </a:xfrm>
          <a:prstGeom prst="rect">
            <a:avLst/>
          </a:prstGeom>
          <a:noFill/>
          <a:ln/>
        </p:spPr>
        <p:txBody>
          <a:bodyPr wrap="square" lIns="0" tIns="0" rIns="0" bIns="0" rtlCol="0" anchor="ctr"/>
          <a:lstStyle/>
          <a:p>
            <a:pPr indent="0" marL="0">
              <a:buNone/>
            </a:pPr>
            <a:r>
              <a:rPr lang="en-US" sz="1250" dirty="0">
                <a:solidFill>
                  <a:srgbClr val="1B2340"/>
                </a:solidFill>
                <a:latin typeface="Calibri" pitchFamily="34" charset="0"/>
                <a:ea typeface="Calibri" pitchFamily="34" charset="-122"/>
                <a:cs typeface="Calibri" pitchFamily="34" charset="-120"/>
              </a:rPr>
              <a:t>Add a lightweight web dashboard alongside the Telegram bot</a:t>
            </a:r>
            <a:endParaRPr lang="en-US" sz="1250" dirty="0"/>
          </a:p>
        </p:txBody>
      </p:sp>
      <p:sp>
        <p:nvSpPr>
          <p:cNvPr id="16" name="Shape 14"/>
          <p:cNvSpPr/>
          <p:nvPr/>
        </p:nvSpPr>
        <p:spPr>
          <a:xfrm>
            <a:off x="822960" y="3849624"/>
            <a:ext cx="10515600" cy="521208"/>
          </a:xfrm>
          <a:prstGeom prst="roundRect">
            <a:avLst>
              <a:gd name="adj" fmla="val 10526"/>
            </a:avLst>
          </a:prstGeom>
          <a:solidFill>
            <a:srgbClr val="FFFFFF"/>
          </a:solidFill>
          <a:ln w="9525">
            <a:solidFill>
              <a:srgbClr val="CADCFC"/>
            </a:solidFill>
            <a:prstDash val="solid"/>
          </a:ln>
        </p:spPr>
      </p:sp>
      <p:sp>
        <p:nvSpPr>
          <p:cNvPr id="17" name="Shape 15"/>
          <p:cNvSpPr/>
          <p:nvPr/>
        </p:nvSpPr>
        <p:spPr>
          <a:xfrm>
            <a:off x="960120" y="3936492"/>
            <a:ext cx="347472" cy="347472"/>
          </a:xfrm>
          <a:prstGeom prst="ellipse">
            <a:avLst/>
          </a:prstGeom>
          <a:solidFill>
            <a:srgbClr val="1E2761"/>
          </a:solidFill>
          <a:ln/>
        </p:spPr>
      </p:sp>
      <p:sp>
        <p:nvSpPr>
          <p:cNvPr id="18" name="Text 16"/>
          <p:cNvSpPr/>
          <p:nvPr/>
        </p:nvSpPr>
        <p:spPr>
          <a:xfrm>
            <a:off x="960120" y="393649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508760" y="3849624"/>
            <a:ext cx="9601200" cy="521208"/>
          </a:xfrm>
          <a:prstGeom prst="rect">
            <a:avLst/>
          </a:prstGeom>
          <a:noFill/>
          <a:ln/>
        </p:spPr>
        <p:txBody>
          <a:bodyPr wrap="square" lIns="0" tIns="0" rIns="0" bIns="0" rtlCol="0" anchor="ctr"/>
          <a:lstStyle/>
          <a:p>
            <a:pPr indent="0" marL="0">
              <a:buNone/>
            </a:pPr>
            <a:r>
              <a:rPr lang="en-US" sz="1250" dirty="0">
                <a:solidFill>
                  <a:srgbClr val="1B2340"/>
                </a:solidFill>
                <a:latin typeface="Calibri" pitchFamily="34" charset="0"/>
                <a:ea typeface="Calibri" pitchFamily="34" charset="-122"/>
                <a:cs typeface="Calibri" pitchFamily="34" charset="-120"/>
              </a:rPr>
              <a:t>Introduce feedback loops where performance data retrains prompts</a:t>
            </a:r>
            <a:endParaRPr lang="en-US" sz="1250" dirty="0"/>
          </a:p>
        </p:txBody>
      </p:sp>
      <p:sp>
        <p:nvSpPr>
          <p:cNvPr id="20" name="Shape 18"/>
          <p:cNvSpPr/>
          <p:nvPr/>
        </p:nvSpPr>
        <p:spPr>
          <a:xfrm>
            <a:off x="822960" y="4507992"/>
            <a:ext cx="10515600" cy="521208"/>
          </a:xfrm>
          <a:prstGeom prst="roundRect">
            <a:avLst>
              <a:gd name="adj" fmla="val 10526"/>
            </a:avLst>
          </a:prstGeom>
          <a:solidFill>
            <a:srgbClr val="F7F9FC"/>
          </a:solidFill>
          <a:ln w="9525">
            <a:solidFill>
              <a:srgbClr val="CADCFC"/>
            </a:solidFill>
            <a:prstDash val="solid"/>
          </a:ln>
        </p:spPr>
      </p:sp>
      <p:sp>
        <p:nvSpPr>
          <p:cNvPr id="21" name="Shape 19"/>
          <p:cNvSpPr/>
          <p:nvPr/>
        </p:nvSpPr>
        <p:spPr>
          <a:xfrm>
            <a:off x="960120" y="4594860"/>
            <a:ext cx="347472" cy="347472"/>
          </a:xfrm>
          <a:prstGeom prst="ellipse">
            <a:avLst/>
          </a:prstGeom>
          <a:solidFill>
            <a:srgbClr val="1E2761"/>
          </a:solidFill>
          <a:ln/>
        </p:spPr>
      </p:sp>
      <p:sp>
        <p:nvSpPr>
          <p:cNvPr id="22" name="Text 20"/>
          <p:cNvSpPr/>
          <p:nvPr/>
        </p:nvSpPr>
        <p:spPr>
          <a:xfrm>
            <a:off x="960120" y="459486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p:nvPr/>
        </p:nvSpPr>
        <p:spPr>
          <a:xfrm>
            <a:off x="1508760" y="4507992"/>
            <a:ext cx="9601200" cy="521208"/>
          </a:xfrm>
          <a:prstGeom prst="rect">
            <a:avLst/>
          </a:prstGeom>
          <a:noFill/>
          <a:ln/>
        </p:spPr>
        <p:txBody>
          <a:bodyPr wrap="square" lIns="0" tIns="0" rIns="0" bIns="0" rtlCol="0" anchor="ctr"/>
          <a:lstStyle/>
          <a:p>
            <a:pPr indent="0" marL="0">
              <a:buNone/>
            </a:pPr>
            <a:r>
              <a:rPr lang="en-US" sz="1250" dirty="0">
                <a:solidFill>
                  <a:srgbClr val="1B2340"/>
                </a:solidFill>
                <a:latin typeface="Calibri" pitchFamily="34" charset="0"/>
                <a:ea typeface="Calibri" pitchFamily="34" charset="-122"/>
                <a:cs typeface="Calibri" pitchFamily="34" charset="-120"/>
              </a:rPr>
              <a:t>Migrate persistence from SQLite to a managed database at scale</a:t>
            </a:r>
            <a:endParaRPr lang="en-US" sz="1250" dirty="0"/>
          </a:p>
        </p:txBody>
      </p:sp>
      <p:sp>
        <p:nvSpPr>
          <p:cNvPr id="24" name="Shape 22"/>
          <p:cNvSpPr/>
          <p:nvPr/>
        </p:nvSpPr>
        <p:spPr>
          <a:xfrm>
            <a:off x="822960" y="5166360"/>
            <a:ext cx="10515600" cy="521208"/>
          </a:xfrm>
          <a:prstGeom prst="roundRect">
            <a:avLst>
              <a:gd name="adj" fmla="val 10526"/>
            </a:avLst>
          </a:prstGeom>
          <a:solidFill>
            <a:srgbClr val="FFFFFF"/>
          </a:solidFill>
          <a:ln w="9525">
            <a:solidFill>
              <a:srgbClr val="CADCFC"/>
            </a:solidFill>
            <a:prstDash val="solid"/>
          </a:ln>
        </p:spPr>
      </p:sp>
      <p:sp>
        <p:nvSpPr>
          <p:cNvPr id="25" name="Shape 23"/>
          <p:cNvSpPr/>
          <p:nvPr/>
        </p:nvSpPr>
        <p:spPr>
          <a:xfrm>
            <a:off x="960120" y="5253228"/>
            <a:ext cx="347472" cy="347472"/>
          </a:xfrm>
          <a:prstGeom prst="ellipse">
            <a:avLst/>
          </a:prstGeom>
          <a:solidFill>
            <a:srgbClr val="1E2761"/>
          </a:solidFill>
          <a:ln/>
        </p:spPr>
      </p:sp>
      <p:sp>
        <p:nvSpPr>
          <p:cNvPr id="26" name="Text 24"/>
          <p:cNvSpPr/>
          <p:nvPr/>
        </p:nvSpPr>
        <p:spPr>
          <a:xfrm>
            <a:off x="960120" y="525322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7" name="Text 25"/>
          <p:cNvSpPr/>
          <p:nvPr/>
        </p:nvSpPr>
        <p:spPr>
          <a:xfrm>
            <a:off x="1508760" y="5166360"/>
            <a:ext cx="9601200" cy="521208"/>
          </a:xfrm>
          <a:prstGeom prst="rect">
            <a:avLst/>
          </a:prstGeom>
          <a:noFill/>
          <a:ln/>
        </p:spPr>
        <p:txBody>
          <a:bodyPr wrap="square" lIns="0" tIns="0" rIns="0" bIns="0" rtlCol="0" anchor="ctr"/>
          <a:lstStyle/>
          <a:p>
            <a:pPr indent="0" marL="0">
              <a:buNone/>
            </a:pPr>
            <a:r>
              <a:rPr lang="en-US" sz="1250" dirty="0">
                <a:solidFill>
                  <a:srgbClr val="1B2340"/>
                </a:solidFill>
                <a:latin typeface="Calibri" pitchFamily="34" charset="0"/>
                <a:ea typeface="Calibri" pitchFamily="34" charset="-122"/>
                <a:cs typeface="Calibri" pitchFamily="34" charset="-120"/>
              </a:rPr>
              <a:t>Add multi-language script and video generation support</a:t>
            </a:r>
            <a:endParaRPr lang="en-US" sz="1250" dirty="0"/>
          </a:p>
        </p:txBody>
      </p:sp>
      <p:sp>
        <p:nvSpPr>
          <p:cNvPr id="28" name="Text 26"/>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CrowdWisdomTrading  |  Hermes Marketing Agents</a:t>
            </a:r>
            <a:endParaRPr lang="en-US" sz="900" dirty="0"/>
          </a:p>
        </p:txBody>
      </p:sp>
      <p:sp>
        <p:nvSpPr>
          <p:cNvPr id="29" name="Text 2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9692640" y="-1463040"/>
            <a:ext cx="4114800" cy="4114800"/>
          </a:xfrm>
          <a:prstGeom prst="ellipse">
            <a:avLst/>
          </a:prstGeom>
          <a:solidFill>
            <a:srgbClr val="1E2761"/>
          </a:solidFill>
          <a:ln/>
        </p:spPr>
      </p:sp>
      <p:sp>
        <p:nvSpPr>
          <p:cNvPr id="3" name="Shape 1"/>
          <p:cNvSpPr/>
          <p:nvPr/>
        </p:nvSpPr>
        <p:spPr>
          <a:xfrm>
            <a:off x="-1097280" y="4937760"/>
            <a:ext cx="2926080" cy="2926080"/>
          </a:xfrm>
          <a:prstGeom prst="ellipse">
            <a:avLst/>
          </a:prstGeom>
          <a:solidFill>
            <a:srgbClr val="1E2761"/>
          </a:solidFill>
          <a:ln/>
        </p:spPr>
      </p:sp>
      <p:sp>
        <p:nvSpPr>
          <p:cNvPr id="4" name="Text 2"/>
          <p:cNvSpPr/>
          <p:nvPr/>
        </p:nvSpPr>
        <p:spPr>
          <a:xfrm>
            <a:off x="822960" y="146304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Conclusion</a:t>
            </a:r>
            <a:endParaRPr lang="en-US" sz="3600" dirty="0"/>
          </a:p>
        </p:txBody>
      </p:sp>
      <p:sp>
        <p:nvSpPr>
          <p:cNvPr id="5" name="Text 3"/>
          <p:cNvSpPr/>
          <p:nvPr/>
        </p:nvSpPr>
        <p:spPr>
          <a:xfrm>
            <a:off x="822960" y="2286000"/>
            <a:ext cx="8961120" cy="1188720"/>
          </a:xfrm>
          <a:prstGeom prst="rect">
            <a:avLst/>
          </a:prstGeom>
          <a:noFill/>
          <a:ln/>
        </p:spPr>
        <p:txBody>
          <a:bodyPr wrap="square" lIns="0" tIns="0" rIns="0" bIns="0" rtlCol="0" anchor="ctr"/>
          <a:lstStyle/>
          <a:p>
            <a:pPr indent="0" marL="0">
              <a:lnSpc>
                <a:spcPct val="135000"/>
              </a:lnSpc>
              <a:buNone/>
            </a:pPr>
            <a:r>
              <a:rPr lang="en-US" sz="1500" dirty="0">
                <a:solidFill>
                  <a:srgbClr val="CADCFC"/>
                </a:solidFill>
                <a:latin typeface="Calibri" pitchFamily="34" charset="0"/>
                <a:ea typeface="Calibri" pitchFamily="34" charset="-122"/>
                <a:cs typeface="Calibri" pitchFamily="34" charset="-120"/>
              </a:rPr>
              <a:t>Hermes Marketing Agents proposes a coherent, agent-based architecture that turns raw competitive ad data into ready-to-publish creative — discovered, analyzed, scripted, and rendered with minimal human intervention, and accessible entirely through Telegram.</a:t>
            </a:r>
            <a:endParaRPr lang="en-US" sz="1500" dirty="0"/>
          </a:p>
        </p:txBody>
      </p:sp>
      <p:sp>
        <p:nvSpPr>
          <p:cNvPr id="6" name="Shape 4"/>
          <p:cNvSpPr/>
          <p:nvPr/>
        </p:nvSpPr>
        <p:spPr>
          <a:xfrm>
            <a:off x="822960" y="3749040"/>
            <a:ext cx="365760" cy="365760"/>
          </a:xfrm>
          <a:prstGeom prst="ellipse">
            <a:avLst/>
          </a:prstGeom>
          <a:solidFill>
            <a:srgbClr val="F2B705"/>
          </a:solidFill>
          <a:ln/>
        </p:spPr>
      </p:sp>
      <p:sp>
        <p:nvSpPr>
          <p:cNvPr id="7" name="Text 5"/>
          <p:cNvSpPr/>
          <p:nvPr/>
        </p:nvSpPr>
        <p:spPr>
          <a:xfrm>
            <a:off x="822960" y="3749040"/>
            <a:ext cx="365760" cy="365760"/>
          </a:xfrm>
          <a:prstGeom prst="rect">
            <a:avLst/>
          </a:prstGeom>
          <a:noFill/>
          <a:ln/>
        </p:spPr>
        <p:txBody>
          <a:bodyPr wrap="square" lIns="0" tIns="0" rIns="0" bIns="0"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371600" y="3749040"/>
            <a:ext cx="8686800" cy="5029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Discovery, insight, scripting, and video as modular Hermes agents</a:t>
            </a:r>
            <a:endParaRPr lang="en-US" sz="1300" dirty="0"/>
          </a:p>
        </p:txBody>
      </p:sp>
      <p:sp>
        <p:nvSpPr>
          <p:cNvPr id="9" name="Shape 7"/>
          <p:cNvSpPr/>
          <p:nvPr/>
        </p:nvSpPr>
        <p:spPr>
          <a:xfrm>
            <a:off x="822960" y="4343400"/>
            <a:ext cx="365760" cy="365760"/>
          </a:xfrm>
          <a:prstGeom prst="ellipse">
            <a:avLst/>
          </a:prstGeom>
          <a:solidFill>
            <a:srgbClr val="F2B705"/>
          </a:solidFill>
          <a:ln/>
        </p:spPr>
      </p:sp>
      <p:sp>
        <p:nvSpPr>
          <p:cNvPr id="10" name="Text 8"/>
          <p:cNvSpPr/>
          <p:nvPr/>
        </p:nvSpPr>
        <p:spPr>
          <a:xfrm>
            <a:off x="822960" y="4343400"/>
            <a:ext cx="365760" cy="365760"/>
          </a:xfrm>
          <a:prstGeom prst="rect">
            <a:avLst/>
          </a:prstGeom>
          <a:noFill/>
          <a:ln/>
        </p:spPr>
        <p:txBody>
          <a:bodyPr wrap="square" lIns="0" tIns="0" rIns="0" bIns="0"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371600" y="4343400"/>
            <a:ext cx="8686800" cy="5029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OpenRouter and OpenMontage as swappable, well-defined integrations</a:t>
            </a:r>
            <a:endParaRPr lang="en-US" sz="1300" dirty="0"/>
          </a:p>
        </p:txBody>
      </p:sp>
      <p:sp>
        <p:nvSpPr>
          <p:cNvPr id="12" name="Shape 10"/>
          <p:cNvSpPr/>
          <p:nvPr/>
        </p:nvSpPr>
        <p:spPr>
          <a:xfrm>
            <a:off x="822960" y="4937760"/>
            <a:ext cx="365760" cy="365760"/>
          </a:xfrm>
          <a:prstGeom prst="ellipse">
            <a:avLst/>
          </a:prstGeom>
          <a:solidFill>
            <a:srgbClr val="F2B705"/>
          </a:solidFill>
          <a:ln/>
        </p:spPr>
      </p:sp>
      <p:sp>
        <p:nvSpPr>
          <p:cNvPr id="13" name="Text 11"/>
          <p:cNvSpPr/>
          <p:nvPr/>
        </p:nvSpPr>
        <p:spPr>
          <a:xfrm>
            <a:off x="822960" y="4937760"/>
            <a:ext cx="365760" cy="365760"/>
          </a:xfrm>
          <a:prstGeom prst="rect">
            <a:avLst/>
          </a:prstGeom>
          <a:noFill/>
          <a:ln/>
        </p:spPr>
        <p:txBody>
          <a:bodyPr wrap="square" lIns="0" tIns="0" rIns="0" bIns="0" rtlCol="0" anchor="ctr"/>
          <a:lstStyle/>
          <a:p>
            <a:pPr algn="ctr" indent="0" marL="0">
              <a:buNone/>
            </a:pPr>
            <a:r>
              <a:rPr lang="en-US" sz="1400" b="1" dirty="0">
                <a:solidFill>
                  <a:srgbClr val="141B4D"/>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371600" y="4937760"/>
            <a:ext cx="8686800" cy="5029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Documentation and diagrams to be kept in sync with each implementation milestone</a:t>
            </a:r>
            <a:endParaRPr lang="en-US" sz="1300" dirty="0"/>
          </a:p>
        </p:txBody>
      </p:sp>
      <p:sp>
        <p:nvSpPr>
          <p:cNvPr id="15" name="Shape 13"/>
          <p:cNvSpPr/>
          <p:nvPr/>
        </p:nvSpPr>
        <p:spPr>
          <a:xfrm>
            <a:off x="822960" y="5943600"/>
            <a:ext cx="2011680" cy="0"/>
          </a:xfrm>
          <a:prstGeom prst="line">
            <a:avLst/>
          </a:prstGeom>
          <a:noFill/>
          <a:ln w="25400">
            <a:solidFill>
              <a:srgbClr val="F2B705"/>
            </a:solidFill>
            <a:prstDash val="solid"/>
          </a:ln>
        </p:spPr>
      </p:sp>
      <p:sp>
        <p:nvSpPr>
          <p:cNvPr id="16" name="Text 14"/>
          <p:cNvSpPr/>
          <p:nvPr/>
        </p:nvSpPr>
        <p:spPr>
          <a:xfrm>
            <a:off x="822960" y="6080760"/>
            <a:ext cx="8229600" cy="365760"/>
          </a:xfrm>
          <a:prstGeom prst="rect">
            <a:avLst/>
          </a:prstGeom>
          <a:noFill/>
          <a:ln/>
        </p:spPr>
        <p:txBody>
          <a:bodyPr wrap="square" lIns="0" tIns="0" rIns="0" bIns="0" rtlCol="0" anchor="ctr"/>
          <a:lstStyle/>
          <a:p>
            <a:pPr indent="0" marL="0">
              <a:buNone/>
            </a:pPr>
            <a:r>
              <a:rPr lang="en-US" sz="1100" i="1" dirty="0">
                <a:solidFill>
                  <a:srgbClr val="5A6B8C"/>
                </a:solidFill>
                <a:latin typeface="Calibri" pitchFamily="34" charset="0"/>
                <a:ea typeface="Calibri" pitchFamily="34" charset="-122"/>
                <a:cs typeface="Calibri" pitchFamily="34" charset="-120"/>
              </a:rPr>
              <a:t>CrowdWisdomTrading  —  Hermes Marketing Agents  —  Architecture &amp; Project Plan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2026-07-20T04:40:00Z</dcterms:created>
  <dcterms:modified xsi:type="dcterms:W3CDTF">2026-07-20T04:40:00Z</dcterms:modified>
</cp:coreProperties>
</file>